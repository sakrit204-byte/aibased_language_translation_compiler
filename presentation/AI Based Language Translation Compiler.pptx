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73A9D01-41A6-E095-E68B-A8F651EF3F16}">
          <p14:sldIdLst>
            <p14:sldId id="256"/>
          </p14:sldIdLst>
        </p14:section>
        <p14:section name="Part 1 - Sakrit Kafle" id="{BBC7D6CC-9CB3-4444-3FA6-6EB3D07F96E9}">
          <p14:sldIdLst>
            <p14:sldId id="257"/>
            <p14:sldId id="258"/>
            <p14:sldId id="259"/>
            <p14:sldId id="260"/>
            <p14:sldId id="261"/>
            <p14:sldId id="262"/>
          </p14:sldIdLst>
        </p14:section>
        <p14:section name="Part 2 - Abendra Adhikari" id="{E5C4C6D1-9C4E-6874-EF5A-93E0001E2783}">
          <p14:sldIdLst>
            <p14:sldId id="263"/>
            <p14:sldId id="264"/>
            <p14:sldId id="265"/>
            <p14:sldId id="266"/>
            <p14:sldId id="267"/>
            <p14:sldId id="268"/>
          </p14:sldIdLst>
        </p14:section>
        <p14:section name="Part 3 - Ankur Bhattarai" id="{E0AD9150-3954-C4B8-E76F-995FBDAF9F31}">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34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9298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claim, not the architecture: this compiler uses AI in three places, and in none of them is the AI trusted. Everything it produces is checked by something that can say no. Say that the three of us will take one part each, and that the application will be running throughout.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over. This part is the compiler proper: no AI at all. Make the point that everything in Part 1 would work with the network unplugged.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subset is not a limitation we are apologising for - it is the thing that makes a provable translation possible at all. Point at the two boxes: same program, left is what we write, right is what the compiler emits.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map for the whole talk. Say the gate is the ONLY route to a model inside the compiler, and that it is reached last, not first - the deterministic rules are tried first and the model only sees what is left over.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stages, one slide, because in the demo they are two clicks. Point out INDENT and DEDENT - that is the part people do not expect. On the parser, land this: a refusal here is a design decision, not a gap. We decided the subset has no decorators, so it says so in those words rather than reporting a syntax error.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we justify the AI policy. Read the last bullet out as written: this is the category of decision we refuse to delegate, and that refusal is in the source file as a comment.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 bullet is a real bug we found and fixed, with a test. If asked: the compiler used to emit bare literals, so an expression whose result fits in 64 bits could still wrap in 32. Worth mentioning because it shows the test suite earning its keep.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over. This part answers the question the examiner will ask: how do you know the AI did not make it 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comparison is repeatable on demand from inside the window that makes the claim. We did that deliberately so nothing has to be taken on trust.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phrase to use is 'bounded by something that can refuse it'. The model proposes an expression; the C compiler decides whether it is real.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single slide for the AI-usage question. Toggling it live in front of them is more convincing than any sentence on a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clear this is a rewrite, not a patch. The model is allowed to change the algorithm, the loop shapes, the function names - whatever gets the same output inside the subset.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have time for one thing in this part, it is this list. Five gates, and the model's answer has to pass all five. Then say: the model never touches the compiler - its answer is just text that the compiler then judges. If asked whether the model could game the test: the prompt does show it the expected output so it can check itself, and a rewrite that prints a multi-digit figure found in that output but nowhere in its own arithmetic is refused. Single digits are exempt, because a digit-printing routine legitimately prints 0 to 9.</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over. This part is the newest work and the most honest part of the project. Do not rush the limitations slide - it is the one that earns marks.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this is not a workaround: the model call was always just filling in a blank, and the blank can be filled by anything. The safety check, the compiler, the build and the comparisons are what decide the verdict, and all of them still run.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sentence: this is the one result in the project that cannot be proved, so it must not be the one that looks strongest. That is why it is worded the way it is, and why the stage only runs when verification was impossible - never when it was possible and simply failed.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of the demonstration. Run the binary, not the Python. Turn a face so they see it is live. Then say the honest part: nothing compared this with the ursina original, and we do not claim it did - what we claim is that the subset can express it and the compiler built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one table to memorise, it is this one. Read the last column aloud - the examiner's real question is what stops the AI being wrong, and the answer is a different thing in each row.</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hurry this slide and do not apologise for it. Every item here is something we found by measuring rather than something we were told. The 2**100 example is the best one: a wrong answer that looked like an answer was the worst thing the compiler could do, so we turned it into an error.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claim, not on thanks. If asked for the single best evidence, offer to toggle AI assist off and translate the same file - the compiler fails closed and names what is missing. That is the whole policy in one keystroke.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103120"/>
            <a:ext cx="10515600" cy="13716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822960" y="3566160"/>
            <a:ext cx="10515600" cy="2011680"/>
          </a:xfrm>
          <a:prstGeom prst="rect">
            <a:avLst/>
          </a:prstGeom>
          <a:noFill/>
          <a:ln/>
        </p:spPr>
        <p:txBody>
          <a:bodyPr wrap="square" rtlCol="0"/>
          <a:lstStyle>
            <a:lvl1pPr marL="0" indent="0" algn="l">
              <a:buNone/>
              <a:defRPr lang="en-US" sz="1600" dirty="0">
                <a:solidFill>
                  <a:srgbClr val="B9C2CC"/>
                </a:solidFill>
              </a:defRPr>
            </a:lvl1pPr>
          </a:lstStyle>
          <a:p>
            <a:pPr marL="0" indent="0" algn="l">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09728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822960" y="3566160"/>
            <a:ext cx="10515600" cy="1645920"/>
          </a:xfrm>
          <a:prstGeom prst="rect">
            <a:avLst/>
          </a:prstGeom>
          <a:noFill/>
          <a:ln/>
        </p:spPr>
        <p:txBody>
          <a:bodyPr wrap="square" rtlCol="0"/>
          <a:lstStyle>
            <a:lvl1pPr marL="0" indent="0" algn="l">
              <a:buNone/>
              <a:defRPr lang="en-US" sz="1600" dirty="0">
                <a:solidFill>
                  <a:srgbClr val="AEBAC6"/>
                </a:solidFill>
              </a:defRPr>
            </a:lvl1pPr>
          </a:lstStyle>
          <a:p>
            <a:pPr marL="0" indent="0" algn="l">
              <a:buNone/>
            </a:pPr>
            <a:endParaRPr lang="en-US" sz="16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4"/>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103120"/>
            <a:ext cx="10515600" cy="1371600"/>
          </a:xfrm>
          <a:prstGeom prst="rect">
            <a:avLst/>
          </a:prstGeom>
          <a:noFill/>
          <a:ln/>
        </p:spPr>
        <p:txBody>
          <a:bodyPr wrap="square" rtlCol="0"/>
          <a:lstStyle/>
          <a:p>
            <a:pPr marL="0" indent="0" algn="l">
              <a:buNone/>
            </a:pPr>
            <a:r>
              <a:rPr lang="en-US" sz="4000" b="1" dirty="0">
                <a:solidFill>
                  <a:schemeClr val="bg1"/>
                </a:solidFill>
              </a:rPr>
              <a:t>AI Based Language Translation Compiler</a:t>
            </a:r>
            <a:endParaRPr lang="en-US" sz="4000" dirty="0"/>
          </a:p>
        </p:txBody>
      </p:sp>
      <p:sp>
        <p:nvSpPr>
          <p:cNvPr id="3" name="Text 0"/>
          <p:cNvSpPr>
            <a:spLocks noGrp="1"/>
          </p:cNvSpPr>
          <p:nvPr>
            <p:ph type="body" idx="101" hasCustomPrompt="1"/>
          </p:nvPr>
        </p:nvSpPr>
        <p:spPr>
          <a:xfrm>
            <a:off x="822960" y="3566160"/>
            <a:ext cx="10515600" cy="2011680"/>
          </a:xfrm>
          <a:prstGeom prst="rect">
            <a:avLst/>
          </a:prstGeom>
          <a:noFill/>
          <a:ln/>
        </p:spPr>
        <p:txBody>
          <a:bodyPr wrap="square" rtlCol="0"/>
          <a:lstStyle/>
          <a:p>
            <a:pPr marL="0" indent="0" algn="l">
              <a:buNone/>
            </a:pPr>
            <a:r>
              <a:rPr lang="en-US" sz="1600" dirty="0">
                <a:solidFill>
                  <a:srgbClr val="B9C2CC"/>
                </a:solidFill>
              </a:rPr>
              <a:t>A Python subset compiled to C, where every AI answer is checked by something that can refuse it</a:t>
            </a:r>
            <a:endParaRPr lang="en-US" sz="1600" dirty="0"/>
          </a:p>
          <a:p>
            <a:pPr marL="0" indent="0" algn="l">
              <a:buNone/>
            </a:pPr>
            <a:endParaRPr lang="en-US" sz="1600" dirty="0"/>
          </a:p>
          <a:p>
            <a:pPr marL="0" indent="0" algn="l">
              <a:buNone/>
            </a:pPr>
            <a:r>
              <a:rPr lang="en-US" sz="1600" b="1" dirty="0">
                <a:solidFill>
                  <a:srgbClr val="7FB3A3"/>
                </a:solidFill>
              </a:rPr>
              <a:t>Sakrit Kafle  24BCE2952      Abendra Adhikari  24BCE2953      Ankur Bhattarai  24BCE2954</a:t>
            </a:r>
            <a:endParaRPr lang="en-US" sz="1600" dirty="0"/>
          </a:p>
          <a:p>
            <a:pPr marL="0" indent="0" algn="l">
              <a:buNone/>
            </a:pPr>
            <a:r>
              <a:rPr lang="en-US" sz="1600" dirty="0">
                <a:solidFill>
                  <a:srgbClr val="8A96A3"/>
                </a:solidFill>
              </a:rPr>
              <a:t>BCSE307P  Compiler Design Lab</a:t>
            </a:r>
            <a:endParaRPr lang="en-US" sz="1600" dirty="0"/>
          </a:p>
        </p:txBody>
      </p:sp>
      <p:sp>
        <p:nvSpPr>
          <p:cNvPr id="4" name="Text 2"/>
          <p:cNvSpPr txBox="1"/>
          <p:nvPr/>
        </p:nvSpPr>
        <p:spPr>
          <a:xfrm>
            <a:off x="822960" y="5943600"/>
            <a:ext cx="10515600" cy="365760"/>
          </a:xfrm>
          <a:prstGeom prst="rect">
            <a:avLst/>
          </a:prstGeom>
          <a:noFill/>
          <a:ln/>
        </p:spPr>
        <p:txBody>
          <a:bodyPr wrap="square" lIns="0" tIns="0" rIns="0" bIns="0" rtlCol="0" anchor="ctr"/>
          <a:lstStyle/>
          <a:p>
            <a:pPr marL="0" indent="0">
              <a:buNone/>
            </a:pPr>
            <a:r>
              <a:rPr lang="en-US" sz="1200" i="1" dirty="0">
                <a:solidFill>
                  <a:srgbClr val="6E7B89"/>
                </a:solidFill>
              </a:rPr>
              <a:t>This is a live demonstration. The slides mark what to show; the application does the talking.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097280"/>
          </a:xfrm>
          <a:prstGeom prst="rect">
            <a:avLst/>
          </a:prstGeom>
          <a:noFill/>
          <a:ln/>
        </p:spPr>
        <p:txBody>
          <a:bodyPr wrap="square" rtlCol="0"/>
          <a:lstStyle/>
          <a:p>
            <a:pPr marL="0" indent="0" algn="l">
              <a:buNone/>
            </a:pPr>
            <a:r>
              <a:rPr lang="en-US" sz="3600" b="1" dirty="0">
                <a:solidFill>
                  <a:schemeClr val="bg1"/>
                </a:solidFill>
              </a:rPr>
              <a:t>Part 1  The deterministic compiler</a:t>
            </a:r>
            <a:endParaRPr lang="en-US" sz="3600" dirty="0"/>
          </a:p>
        </p:txBody>
      </p:sp>
      <p:sp>
        <p:nvSpPr>
          <p:cNvPr id="3" name="Text 0"/>
          <p:cNvSpPr>
            <a:spLocks noGrp="1"/>
          </p:cNvSpPr>
          <p:nvPr>
            <p:ph type="body" idx="101" hasCustomPrompt="1"/>
          </p:nvPr>
        </p:nvSpPr>
        <p:spPr>
          <a:xfrm>
            <a:off x="822960" y="3566160"/>
            <a:ext cx="10515600" cy="1645920"/>
          </a:xfrm>
          <a:prstGeom prst="rect">
            <a:avLst/>
          </a:prstGeom>
          <a:noFill/>
          <a:ln/>
        </p:spPr>
        <p:txBody>
          <a:bodyPr wrap="square" rtlCol="0"/>
          <a:lstStyle/>
          <a:p>
            <a:pPr marL="0" indent="0" algn="l">
              <a:buNone/>
            </a:pPr>
            <a:r>
              <a:rPr lang="en-US" sz="1600" dirty="0">
                <a:solidFill>
                  <a:srgbClr val="AEBAC6"/>
                </a:solidFill>
              </a:rPr>
              <a:t>Sakrit Kafle  -  the five stages, what each one produces, and the C that comes out</a:t>
            </a:r>
            <a:endParaRPr lang="en-US" sz="16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4"/>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The problem, and the one rule we hold to</a:t>
            </a:r>
            <a:endParaRPr lang="en-US" sz="3000" dirty="0"/>
          </a:p>
        </p:txBody>
      </p:sp>
      <p:sp>
        <p:nvSpPr>
          <p:cNvPr id="3" name="Text 1"/>
          <p:cNvSpPr txBox="1"/>
          <p:nvPr/>
        </p:nvSpPr>
        <p:spPr>
          <a:xfrm>
            <a:off x="594360" y="1325880"/>
            <a:ext cx="5486400" cy="448056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500" dirty="0">
                <a:solidFill>
                  <a:schemeClr val="tx1"/>
                </a:solidFill>
              </a:rPr>
              <a:t>Python is dynamically typed and garbage collected. C is neither. A translation has to decide types, sizes and lifetimes that Python never writes down.</a:t>
            </a:r>
            <a:endParaRPr lang="en-US" sz="1500" dirty="0"/>
          </a:p>
          <a:p>
            <a:pPr marL="342900" indent="-342900">
              <a:lnSpc>
                <a:spcPct val="105000"/>
              </a:lnSpc>
              <a:spcAft>
                <a:spcPts val="900"/>
              </a:spcAft>
              <a:buSzPct val="100000"/>
              <a:buChar char="•"/>
            </a:pPr>
            <a:r>
              <a:rPr lang="en-US" sz="1500" dirty="0">
                <a:solidFill>
                  <a:schemeClr val="tx1"/>
                </a:solidFill>
              </a:rPr>
              <a:t>So we compile a strict subset: fixed-size arrays, fixed-key dicts, classes as value structs, no allocator.</a:t>
            </a:r>
            <a:endParaRPr lang="en-US" sz="1500" dirty="0"/>
          </a:p>
          <a:p>
            <a:pPr marL="342900" indent="-342900">
              <a:lnSpc>
                <a:spcPct val="105000"/>
              </a:lnSpc>
              <a:spcAft>
                <a:spcPts val="900"/>
              </a:spcAft>
              <a:buSzPct val="100000"/>
              <a:buChar char="•"/>
            </a:pPr>
            <a:r>
              <a:rPr lang="en-US" sz="1500" dirty="0">
                <a:solidFill>
                  <a:schemeClr val="tx1"/>
                </a:solidFill>
              </a:rPr>
              <a:t>The rule the whole project rests on: the output is the specification. A translation is correct only when the compiled C prints the same bytes as CPython.</a:t>
            </a:r>
            <a:endParaRPr lang="en-US" sz="1500" dirty="0"/>
          </a:p>
          <a:p>
            <a:pPr marL="342900" indent="-342900">
              <a:lnSpc>
                <a:spcPct val="105000"/>
              </a:lnSpc>
              <a:spcAft>
                <a:spcPts val="900"/>
              </a:spcAft>
              <a:buSzPct val="100000"/>
              <a:buChar char="•"/>
            </a:pPr>
            <a:r>
              <a:rPr lang="en-US" sz="1500" dirty="0">
                <a:solidFill>
                  <a:schemeClr val="tx1"/>
                </a:solidFill>
              </a:rPr>
              <a:t>That rule is what makes AI usable here. An answer that cannot be checked is not accepted, so a wrong answer becomes a refusal rather than a wrong program.</a:t>
            </a:r>
            <a:endParaRPr lang="en-US" sz="1500" dirty="0"/>
          </a:p>
        </p:txBody>
      </p:sp>
      <p:sp>
        <p:nvSpPr>
          <p:cNvPr id="4" name="code frame"/>
          <p:cNvSpPr/>
          <p:nvPr/>
        </p:nvSpPr>
        <p:spPr>
          <a:xfrm>
            <a:off x="6035040" y="1371600"/>
            <a:ext cx="5577840" cy="1783080"/>
          </a:xfrm>
          <a:prstGeom prst="roundRect">
            <a:avLst>
              <a:gd name="adj" fmla="val 3077"/>
            </a:avLst>
          </a:prstGeom>
          <a:solidFill>
            <a:srgbClr val="F2F5F7"/>
          </a:solidFill>
          <a:ln w="12700">
            <a:solidFill>
              <a:srgbClr val="DCE3E9"/>
            </a:solidFill>
            <a:prstDash val="solid"/>
          </a:ln>
        </p:spPr>
      </p:sp>
      <p:sp>
        <p:nvSpPr>
          <p:cNvPr id="5" name="Text 3"/>
          <p:cNvSpPr txBox="1"/>
          <p:nvPr/>
        </p:nvSpPr>
        <p:spPr>
          <a:xfrm>
            <a:off x="6217920" y="1517904"/>
            <a:ext cx="5212080" cy="1490472"/>
          </a:xfrm>
          <a:prstGeom prst="rect">
            <a:avLst/>
          </a:prstGeom>
          <a:noFill/>
          <a:ln/>
        </p:spPr>
        <p:txBody>
          <a:bodyPr wrap="square" lIns="0" tIns="0" rIns="0" bIns="0" rtlCol="0" anchor="ctr"/>
          <a:lstStyle/>
          <a:p>
            <a:pPr marL="0" indent="0">
              <a:lnSpc>
                <a:spcPct val="112000"/>
              </a:lnSpc>
              <a:buNone/>
            </a:pPr>
            <a:r>
              <a:rPr lang="en-US" sz="1150" dirty="0">
                <a:solidFill>
                  <a:srgbClr val="232A34"/>
                </a:solidFill>
                <a:latin typeface="Courier New" pitchFamily="34" charset="0"/>
                <a:ea typeface="Courier New" pitchFamily="34" charset="-122"/>
                <a:cs typeface="Courier New" pitchFamily="34" charset="-120"/>
              </a:rPr>
              <a:t>def main() -&gt; int:</a:t>
            </a:r>
            <a:endParaRPr lang="en-US" sz="1150" dirty="0"/>
          </a:p>
          <a:p>
            <a:pPr marL="0" indent="0">
              <a:lnSpc>
                <a:spcPct val="112000"/>
              </a:lnSpc>
              <a:buNone/>
            </a:pPr>
            <a:r>
              <a:rPr lang="en-US" sz="1150" dirty="0">
                <a:solidFill>
                  <a:srgbClr val="232A34"/>
                </a:solidFill>
                <a:latin typeface="Courier New" pitchFamily="34" charset="0"/>
                <a:ea typeface="Courier New" pitchFamily="34" charset="-122"/>
                <a:cs typeface="Courier New" pitchFamily="34" charset="-120"/>
              </a:rPr>
              <a:t>    total: int = 0</a:t>
            </a:r>
            <a:endParaRPr lang="en-US" sz="1150" dirty="0"/>
          </a:p>
          <a:p>
            <a:pPr marL="0" indent="0">
              <a:lnSpc>
                <a:spcPct val="112000"/>
              </a:lnSpc>
              <a:buNone/>
            </a:pPr>
            <a:r>
              <a:rPr lang="en-US" sz="1150" dirty="0">
                <a:solidFill>
                  <a:srgbClr val="232A34"/>
                </a:solidFill>
                <a:latin typeface="Courier New" pitchFamily="34" charset="0"/>
                <a:ea typeface="Courier New" pitchFamily="34" charset="-122"/>
                <a:cs typeface="Courier New" pitchFamily="34" charset="-120"/>
              </a:rPr>
              <a:t>    for i in range(1, 11):</a:t>
            </a:r>
            <a:endParaRPr lang="en-US" sz="1150" dirty="0"/>
          </a:p>
          <a:p>
            <a:pPr marL="0" indent="0">
              <a:lnSpc>
                <a:spcPct val="112000"/>
              </a:lnSpc>
              <a:buNone/>
            </a:pPr>
            <a:r>
              <a:rPr lang="en-US" sz="1150" dirty="0">
                <a:solidFill>
                  <a:srgbClr val="232A34"/>
                </a:solidFill>
                <a:latin typeface="Courier New" pitchFamily="34" charset="0"/>
                <a:ea typeface="Courier New" pitchFamily="34" charset="-122"/>
                <a:cs typeface="Courier New" pitchFamily="34" charset="-120"/>
              </a:rPr>
              <a:t>        total = total + i * i</a:t>
            </a:r>
            <a:endParaRPr lang="en-US" sz="1150" dirty="0"/>
          </a:p>
          <a:p>
            <a:pPr marL="0" indent="0">
              <a:lnSpc>
                <a:spcPct val="112000"/>
              </a:lnSpc>
              <a:buNone/>
            </a:pPr>
            <a:r>
              <a:rPr lang="en-US" sz="1150" dirty="0">
                <a:solidFill>
                  <a:srgbClr val="232A34"/>
                </a:solidFill>
                <a:latin typeface="Courier New" pitchFamily="34" charset="0"/>
                <a:ea typeface="Courier New" pitchFamily="34" charset="-122"/>
                <a:cs typeface="Courier New" pitchFamily="34" charset="-120"/>
              </a:rPr>
              <a:t>    print(total)</a:t>
            </a:r>
            <a:endParaRPr lang="en-US" sz="1150" dirty="0"/>
          </a:p>
          <a:p>
            <a:pPr marL="0" indent="0">
              <a:lnSpc>
                <a:spcPct val="112000"/>
              </a:lnSpc>
              <a:buNone/>
            </a:pPr>
            <a:r>
              <a:rPr lang="en-US" sz="1150" dirty="0">
                <a:solidFill>
                  <a:srgbClr val="232A34"/>
                </a:solidFill>
                <a:latin typeface="Courier New" pitchFamily="34" charset="0"/>
                <a:ea typeface="Courier New" pitchFamily="34" charset="-122"/>
                <a:cs typeface="Courier New" pitchFamily="34" charset="-120"/>
              </a:rPr>
              <a:t>    return 0</a:t>
            </a:r>
            <a:endParaRPr lang="en-US" sz="1150" dirty="0"/>
          </a:p>
        </p:txBody>
      </p:sp>
      <p:sp>
        <p:nvSpPr>
          <p:cNvPr id="6" name="code frame"/>
          <p:cNvSpPr/>
          <p:nvPr/>
        </p:nvSpPr>
        <p:spPr>
          <a:xfrm>
            <a:off x="6035040" y="3383280"/>
            <a:ext cx="5577840" cy="1463040"/>
          </a:xfrm>
          <a:prstGeom prst="roundRect">
            <a:avLst>
              <a:gd name="adj" fmla="val 3750"/>
            </a:avLst>
          </a:prstGeom>
          <a:solidFill>
            <a:srgbClr val="F2F5F7"/>
          </a:solidFill>
          <a:ln w="12700">
            <a:solidFill>
              <a:srgbClr val="DCE3E9"/>
            </a:solidFill>
            <a:prstDash val="solid"/>
          </a:ln>
        </p:spPr>
      </p:sp>
      <p:sp>
        <p:nvSpPr>
          <p:cNvPr id="7" name="Text 5"/>
          <p:cNvSpPr txBox="1"/>
          <p:nvPr/>
        </p:nvSpPr>
        <p:spPr>
          <a:xfrm>
            <a:off x="6217920" y="3529584"/>
            <a:ext cx="5212080" cy="1170432"/>
          </a:xfrm>
          <a:prstGeom prst="rect">
            <a:avLst/>
          </a:prstGeom>
          <a:noFill/>
          <a:ln/>
        </p:spPr>
        <p:txBody>
          <a:bodyPr wrap="square" lIns="0" tIns="0" rIns="0" bIns="0" rtlCol="0" anchor="ctr"/>
          <a:lstStyle/>
          <a:p>
            <a:pPr marL="0" indent="0">
              <a:lnSpc>
                <a:spcPct val="112000"/>
              </a:lnSpc>
              <a:buNone/>
            </a:pPr>
            <a:r>
              <a:rPr lang="en-US" sz="1150" dirty="0">
                <a:solidFill>
                  <a:srgbClr val="232A34"/>
                </a:solidFill>
                <a:latin typeface="Courier New" pitchFamily="34" charset="0"/>
                <a:ea typeface="Courier New" pitchFamily="34" charset="-122"/>
                <a:cs typeface="Courier New" pitchFamily="34" charset="-120"/>
              </a:rPr>
              <a:t>py_int total = 0LL;</a:t>
            </a:r>
            <a:endParaRPr lang="en-US" sz="1150" dirty="0"/>
          </a:p>
          <a:p>
            <a:pPr marL="0" indent="0">
              <a:lnSpc>
                <a:spcPct val="112000"/>
              </a:lnSpc>
              <a:buNone/>
            </a:pPr>
            <a:r>
              <a:rPr lang="en-US" sz="1150" dirty="0">
                <a:solidFill>
                  <a:srgbClr val="232A34"/>
                </a:solidFill>
                <a:latin typeface="Courier New" pitchFamily="34" charset="0"/>
                <a:ea typeface="Courier New" pitchFamily="34" charset="-122"/>
                <a:cs typeface="Courier New" pitchFamily="34" charset="-120"/>
              </a:rPr>
              <a:t>for (py_int i = 1; i &lt; 11; i++)</a:t>
            </a:r>
            <a:endParaRPr lang="en-US" sz="1150" dirty="0"/>
          </a:p>
          <a:p>
            <a:pPr marL="0" indent="0">
              <a:lnSpc>
                <a:spcPct val="112000"/>
              </a:lnSpc>
              <a:buNone/>
            </a:pPr>
            <a:r>
              <a:rPr lang="en-US" sz="1150" dirty="0">
                <a:solidFill>
                  <a:srgbClr val="232A34"/>
                </a:solidFill>
                <a:latin typeface="Courier New" pitchFamily="34" charset="0"/>
                <a:ea typeface="Courier New" pitchFamily="34" charset="-122"/>
                <a:cs typeface="Courier New" pitchFamily="34" charset="-120"/>
              </a:rPr>
              <a:t>    total = total + i * i;</a:t>
            </a:r>
            <a:endParaRPr lang="en-US" sz="1150" dirty="0"/>
          </a:p>
          <a:p>
            <a:pPr marL="0" indent="0">
              <a:lnSpc>
                <a:spcPct val="112000"/>
              </a:lnSpc>
              <a:buNone/>
            </a:pPr>
            <a:r>
              <a:rPr lang="en-US" sz="1150" dirty="0">
                <a:solidFill>
                  <a:srgbClr val="232A34"/>
                </a:solidFill>
                <a:latin typeface="Courier New" pitchFamily="34" charset="0"/>
                <a:ea typeface="Courier New" pitchFamily="34" charset="-122"/>
                <a:cs typeface="Courier New" pitchFamily="34" charset="-120"/>
              </a:rPr>
              <a:t>printf("%lld\n", (long long)total);</a:t>
            </a:r>
            <a:endParaRPr lang="en-US" sz="1150" dirty="0"/>
          </a:p>
        </p:txBody>
      </p:sp>
      <p:sp>
        <p:nvSpPr>
          <p:cNvPr id="8"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9" name="Text 7"/>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Have the IDE open on this program before you start talking.</a:t>
            </a:r>
            <a:endParaRPr lang="en-US" sz="12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Five stages, and exactly where AI is allowed</a:t>
            </a:r>
            <a:endParaRPr lang="en-US" sz="3000" dirty="0"/>
          </a:p>
        </p:txBody>
      </p:sp>
      <p:sp>
        <p:nvSpPr>
          <p:cNvPr id="3" name="step 1"/>
          <p:cNvSpPr/>
          <p:nvPr/>
        </p:nvSpPr>
        <p:spPr>
          <a:xfrm>
            <a:off x="640080" y="1325880"/>
            <a:ext cx="475488" cy="475488"/>
          </a:xfrm>
          <a:prstGeom prst="ellipse">
            <a:avLst/>
          </a:prstGeom>
          <a:solidFill>
            <a:srgbClr val="0E7C66"/>
          </a:solidFill>
          <a:ln w="12700">
            <a:solidFill>
              <a:srgbClr val="0E7C66"/>
            </a:solidFill>
            <a:prstDash val="solid"/>
          </a:ln>
        </p:spPr>
      </p:sp>
      <p:sp>
        <p:nvSpPr>
          <p:cNvPr id="4" name="Text 2"/>
          <p:cNvSpPr txBox="1"/>
          <p:nvPr/>
        </p:nvSpPr>
        <p:spPr>
          <a:xfrm>
            <a:off x="640080" y="132588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5" name="Text 3"/>
          <p:cNvSpPr txBox="1"/>
          <p:nvPr/>
        </p:nvSpPr>
        <p:spPr>
          <a:xfrm>
            <a:off x="1298448" y="1307592"/>
            <a:ext cx="2011680" cy="292608"/>
          </a:xfrm>
          <a:prstGeom prst="rect">
            <a:avLst/>
          </a:prstGeom>
          <a:noFill/>
          <a:ln/>
        </p:spPr>
        <p:txBody>
          <a:bodyPr wrap="square" lIns="0" tIns="0" rIns="0" bIns="0" rtlCol="0" anchor="ctr"/>
          <a:lstStyle/>
          <a:p>
            <a:pPr marL="0" indent="0">
              <a:buNone/>
            </a:pPr>
            <a:r>
              <a:rPr lang="en-US" sz="1500" b="1" dirty="0">
                <a:solidFill>
                  <a:schemeClr val="tx1"/>
                </a:solidFill>
              </a:rPr>
              <a:t>Lexer</a:t>
            </a:r>
            <a:endParaRPr lang="en-US" sz="1500" dirty="0"/>
          </a:p>
        </p:txBody>
      </p:sp>
      <p:sp>
        <p:nvSpPr>
          <p:cNvPr id="6" name="Text 4"/>
          <p:cNvSpPr txBox="1"/>
          <p:nvPr/>
        </p:nvSpPr>
        <p:spPr>
          <a:xfrm>
            <a:off x="1298448" y="1563624"/>
            <a:ext cx="4572000" cy="292608"/>
          </a:xfrm>
          <a:prstGeom prst="rect">
            <a:avLst/>
          </a:prstGeom>
          <a:noFill/>
          <a:ln/>
        </p:spPr>
        <p:txBody>
          <a:bodyPr wrap="square" lIns="0" tIns="0" rIns="0" bIns="0" rtlCol="0" anchor="ctr"/>
          <a:lstStyle/>
          <a:p>
            <a:pPr marL="0" indent="0">
              <a:buNone/>
            </a:pPr>
            <a:r>
              <a:rPr lang="en-US" sz="1200" dirty="0">
                <a:solidFill>
                  <a:srgbClr val="5A6472"/>
                </a:solidFill>
              </a:rPr>
              <a:t>tokens, indentation, escapes</a:t>
            </a:r>
            <a:endParaRPr lang="en-US" sz="1200" dirty="0"/>
          </a:p>
        </p:txBody>
      </p:sp>
      <p:sp>
        <p:nvSpPr>
          <p:cNvPr id="7" name="step 2"/>
          <p:cNvSpPr/>
          <p:nvPr/>
        </p:nvSpPr>
        <p:spPr>
          <a:xfrm>
            <a:off x="640080" y="2167128"/>
            <a:ext cx="475488" cy="475488"/>
          </a:xfrm>
          <a:prstGeom prst="ellipse">
            <a:avLst/>
          </a:prstGeom>
          <a:solidFill>
            <a:srgbClr val="0E7C66"/>
          </a:solidFill>
          <a:ln w="12700">
            <a:solidFill>
              <a:srgbClr val="0E7C66"/>
            </a:solidFill>
            <a:prstDash val="solid"/>
          </a:ln>
        </p:spPr>
      </p:sp>
      <p:sp>
        <p:nvSpPr>
          <p:cNvPr id="8" name="Text 6"/>
          <p:cNvSpPr txBox="1"/>
          <p:nvPr/>
        </p:nvSpPr>
        <p:spPr>
          <a:xfrm>
            <a:off x="640080" y="2167128"/>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9" name="Text 7"/>
          <p:cNvSpPr txBox="1"/>
          <p:nvPr/>
        </p:nvSpPr>
        <p:spPr>
          <a:xfrm>
            <a:off x="1298448" y="2148840"/>
            <a:ext cx="2011680" cy="292608"/>
          </a:xfrm>
          <a:prstGeom prst="rect">
            <a:avLst/>
          </a:prstGeom>
          <a:noFill/>
          <a:ln/>
        </p:spPr>
        <p:txBody>
          <a:bodyPr wrap="square" lIns="0" tIns="0" rIns="0" bIns="0" rtlCol="0" anchor="ctr"/>
          <a:lstStyle/>
          <a:p>
            <a:pPr marL="0" indent="0">
              <a:buNone/>
            </a:pPr>
            <a:r>
              <a:rPr lang="en-US" sz="1500" b="1" dirty="0">
                <a:solidFill>
                  <a:schemeClr val="tx1"/>
                </a:solidFill>
              </a:rPr>
              <a:t>Parser</a:t>
            </a:r>
            <a:endParaRPr lang="en-US" sz="1500" dirty="0"/>
          </a:p>
        </p:txBody>
      </p:sp>
      <p:sp>
        <p:nvSpPr>
          <p:cNvPr id="10" name="Text 8"/>
          <p:cNvSpPr txBox="1"/>
          <p:nvPr/>
        </p:nvSpPr>
        <p:spPr>
          <a:xfrm>
            <a:off x="1298448" y="2404872"/>
            <a:ext cx="4572000" cy="292608"/>
          </a:xfrm>
          <a:prstGeom prst="rect">
            <a:avLst/>
          </a:prstGeom>
          <a:noFill/>
          <a:ln/>
        </p:spPr>
        <p:txBody>
          <a:bodyPr wrap="square" lIns="0" tIns="0" rIns="0" bIns="0" rtlCol="0" anchor="ctr"/>
          <a:lstStyle/>
          <a:p>
            <a:pPr marL="0" indent="0">
              <a:buNone/>
            </a:pPr>
            <a:r>
              <a:rPr lang="en-US" sz="1200" dirty="0">
                <a:solidFill>
                  <a:srgbClr val="5A6472"/>
                </a:solidFill>
              </a:rPr>
              <a:t>recursive descent, Python precedence</a:t>
            </a:r>
            <a:endParaRPr lang="en-US" sz="1200" dirty="0"/>
          </a:p>
        </p:txBody>
      </p:sp>
      <p:sp>
        <p:nvSpPr>
          <p:cNvPr id="11" name="step 3"/>
          <p:cNvSpPr/>
          <p:nvPr/>
        </p:nvSpPr>
        <p:spPr>
          <a:xfrm>
            <a:off x="640080" y="3008376"/>
            <a:ext cx="475488" cy="475488"/>
          </a:xfrm>
          <a:prstGeom prst="ellipse">
            <a:avLst/>
          </a:prstGeom>
          <a:solidFill>
            <a:srgbClr val="0E7C66"/>
          </a:solidFill>
          <a:ln w="12700">
            <a:solidFill>
              <a:srgbClr val="0E7C66"/>
            </a:solidFill>
            <a:prstDash val="solid"/>
          </a:ln>
        </p:spPr>
      </p:sp>
      <p:sp>
        <p:nvSpPr>
          <p:cNvPr id="12" name="Text 10"/>
          <p:cNvSpPr txBox="1"/>
          <p:nvPr/>
        </p:nvSpPr>
        <p:spPr>
          <a:xfrm>
            <a:off x="640080" y="3008376"/>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Text 11"/>
          <p:cNvSpPr txBox="1"/>
          <p:nvPr/>
        </p:nvSpPr>
        <p:spPr>
          <a:xfrm>
            <a:off x="1298448" y="2990088"/>
            <a:ext cx="2011680" cy="292608"/>
          </a:xfrm>
          <a:prstGeom prst="rect">
            <a:avLst/>
          </a:prstGeom>
          <a:noFill/>
          <a:ln/>
        </p:spPr>
        <p:txBody>
          <a:bodyPr wrap="square" lIns="0" tIns="0" rIns="0" bIns="0" rtlCol="0" anchor="ctr"/>
          <a:lstStyle/>
          <a:p>
            <a:pPr marL="0" indent="0">
              <a:buNone/>
            </a:pPr>
            <a:r>
              <a:rPr lang="en-US" sz="1500" b="1" dirty="0">
                <a:solidFill>
                  <a:schemeClr val="tx1"/>
                </a:solidFill>
              </a:rPr>
              <a:t>Semantic</a:t>
            </a:r>
            <a:endParaRPr lang="en-US" sz="1500" dirty="0"/>
          </a:p>
        </p:txBody>
      </p:sp>
      <p:sp>
        <p:nvSpPr>
          <p:cNvPr id="14" name="Text 12"/>
          <p:cNvSpPr txBox="1"/>
          <p:nvPr/>
        </p:nvSpPr>
        <p:spPr>
          <a:xfrm>
            <a:off x="1298448" y="3246120"/>
            <a:ext cx="4572000" cy="292608"/>
          </a:xfrm>
          <a:prstGeom prst="rect">
            <a:avLst/>
          </a:prstGeom>
          <a:noFill/>
          <a:ln/>
        </p:spPr>
        <p:txBody>
          <a:bodyPr wrap="square" lIns="0" tIns="0" rIns="0" bIns="0" rtlCol="0" anchor="ctr"/>
          <a:lstStyle/>
          <a:p>
            <a:pPr marL="0" indent="0">
              <a:buNone/>
            </a:pPr>
            <a:r>
              <a:rPr lang="en-US" sz="1200" dirty="0">
                <a:solidFill>
                  <a:srgbClr val="5A6472"/>
                </a:solidFill>
              </a:rPr>
              <a:t>type inference, definite assignment, returns</a:t>
            </a:r>
            <a:endParaRPr lang="en-US" sz="1200" dirty="0"/>
          </a:p>
        </p:txBody>
      </p:sp>
      <p:sp>
        <p:nvSpPr>
          <p:cNvPr id="15" name="step 4"/>
          <p:cNvSpPr/>
          <p:nvPr/>
        </p:nvSpPr>
        <p:spPr>
          <a:xfrm>
            <a:off x="640080" y="3849624"/>
            <a:ext cx="475488" cy="475488"/>
          </a:xfrm>
          <a:prstGeom prst="ellipse">
            <a:avLst/>
          </a:prstGeom>
          <a:solidFill>
            <a:srgbClr val="0E7C66"/>
          </a:solidFill>
          <a:ln w="12700">
            <a:solidFill>
              <a:srgbClr val="0E7C66"/>
            </a:solidFill>
            <a:prstDash val="solid"/>
          </a:ln>
        </p:spPr>
      </p:sp>
      <p:sp>
        <p:nvSpPr>
          <p:cNvPr id="16" name="Text 14"/>
          <p:cNvSpPr txBox="1"/>
          <p:nvPr/>
        </p:nvSpPr>
        <p:spPr>
          <a:xfrm>
            <a:off x="640080" y="3849624"/>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7" name="Text 15"/>
          <p:cNvSpPr txBox="1"/>
          <p:nvPr/>
        </p:nvSpPr>
        <p:spPr>
          <a:xfrm>
            <a:off x="1298448" y="3831336"/>
            <a:ext cx="2011680" cy="292608"/>
          </a:xfrm>
          <a:prstGeom prst="rect">
            <a:avLst/>
          </a:prstGeom>
          <a:noFill/>
          <a:ln/>
        </p:spPr>
        <p:txBody>
          <a:bodyPr wrap="square" lIns="0" tIns="0" rIns="0" bIns="0" rtlCol="0" anchor="ctr"/>
          <a:lstStyle/>
          <a:p>
            <a:pPr marL="0" indent="0">
              <a:buNone/>
            </a:pPr>
            <a:r>
              <a:rPr lang="en-US" sz="1500" b="1" dirty="0">
                <a:solidFill>
                  <a:schemeClr val="tx1"/>
                </a:solidFill>
              </a:rPr>
              <a:t>Codegen</a:t>
            </a:r>
            <a:endParaRPr lang="en-US" sz="1500" dirty="0"/>
          </a:p>
        </p:txBody>
      </p:sp>
      <p:sp>
        <p:nvSpPr>
          <p:cNvPr id="18" name="Text 16"/>
          <p:cNvSpPr txBox="1"/>
          <p:nvPr/>
        </p:nvSpPr>
        <p:spPr>
          <a:xfrm>
            <a:off x="1298448" y="4087368"/>
            <a:ext cx="4572000" cy="292608"/>
          </a:xfrm>
          <a:prstGeom prst="rect">
            <a:avLst/>
          </a:prstGeom>
          <a:noFill/>
          <a:ln/>
        </p:spPr>
        <p:txBody>
          <a:bodyPr wrap="square" lIns="0" tIns="0" rIns="0" bIns="0" rtlCol="0" anchor="ctr"/>
          <a:lstStyle/>
          <a:p>
            <a:pPr marL="0" indent="0">
              <a:buNone/>
            </a:pPr>
            <a:r>
              <a:rPr lang="en-US" sz="1200" dirty="0">
                <a:solidFill>
                  <a:srgbClr val="5A6472"/>
                </a:solidFill>
              </a:rPr>
              <a:t>rule templates and runtime helpers</a:t>
            </a:r>
            <a:endParaRPr lang="en-US" sz="1200" dirty="0"/>
          </a:p>
        </p:txBody>
      </p:sp>
      <p:sp>
        <p:nvSpPr>
          <p:cNvPr id="19" name="step 5"/>
          <p:cNvSpPr/>
          <p:nvPr/>
        </p:nvSpPr>
        <p:spPr>
          <a:xfrm>
            <a:off x="640080" y="4690872"/>
            <a:ext cx="475488" cy="475488"/>
          </a:xfrm>
          <a:prstGeom prst="ellipse">
            <a:avLst/>
          </a:prstGeom>
          <a:solidFill>
            <a:srgbClr val="0E7C66"/>
          </a:solidFill>
          <a:ln w="12700">
            <a:solidFill>
              <a:srgbClr val="0E7C66"/>
            </a:solidFill>
            <a:prstDash val="solid"/>
          </a:ln>
        </p:spPr>
      </p:sp>
      <p:sp>
        <p:nvSpPr>
          <p:cNvPr id="20" name="Text 18"/>
          <p:cNvSpPr txBox="1"/>
          <p:nvPr/>
        </p:nvSpPr>
        <p:spPr>
          <a:xfrm>
            <a:off x="640080" y="4690872"/>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1" name="Text 19"/>
          <p:cNvSpPr txBox="1"/>
          <p:nvPr/>
        </p:nvSpPr>
        <p:spPr>
          <a:xfrm>
            <a:off x="1298448" y="4672584"/>
            <a:ext cx="2011680" cy="292608"/>
          </a:xfrm>
          <a:prstGeom prst="rect">
            <a:avLst/>
          </a:prstGeom>
          <a:noFill/>
          <a:ln/>
        </p:spPr>
        <p:txBody>
          <a:bodyPr wrap="square" lIns="0" tIns="0" rIns="0" bIns="0" rtlCol="0" anchor="ctr"/>
          <a:lstStyle/>
          <a:p>
            <a:pPr marL="0" indent="0">
              <a:buNone/>
            </a:pPr>
            <a:r>
              <a:rPr lang="en-US" sz="1500" b="1" dirty="0">
                <a:solidFill>
                  <a:schemeClr val="tx1"/>
                </a:solidFill>
              </a:rPr>
              <a:t>out.c</a:t>
            </a:r>
            <a:endParaRPr lang="en-US" sz="1500" dirty="0"/>
          </a:p>
        </p:txBody>
      </p:sp>
      <p:sp>
        <p:nvSpPr>
          <p:cNvPr id="22" name="Text 20"/>
          <p:cNvSpPr txBox="1"/>
          <p:nvPr/>
        </p:nvSpPr>
        <p:spPr>
          <a:xfrm>
            <a:off x="1298448" y="4928616"/>
            <a:ext cx="4572000" cy="292608"/>
          </a:xfrm>
          <a:prstGeom prst="rect">
            <a:avLst/>
          </a:prstGeom>
          <a:noFill/>
          <a:ln/>
        </p:spPr>
        <p:txBody>
          <a:bodyPr wrap="square" lIns="0" tIns="0" rIns="0" bIns="0" rtlCol="0" anchor="ctr"/>
          <a:lstStyle/>
          <a:p>
            <a:pPr marL="0" indent="0">
              <a:buNone/>
            </a:pPr>
            <a:r>
              <a:rPr lang="en-US" sz="1200" dirty="0">
                <a:solidFill>
                  <a:srgbClr val="5A6472"/>
                </a:solidFill>
              </a:rPr>
              <a:t>self contained; cc out.c -lm -o out</a:t>
            </a:r>
            <a:endParaRPr lang="en-US" sz="1200" dirty="0"/>
          </a:p>
        </p:txBody>
      </p:sp>
      <p:sp>
        <p:nvSpPr>
          <p:cNvPr id="23" name="gate"/>
          <p:cNvSpPr/>
          <p:nvPr/>
        </p:nvSpPr>
        <p:spPr>
          <a:xfrm>
            <a:off x="6492240" y="2286000"/>
            <a:ext cx="5029200" cy="1600200"/>
          </a:xfrm>
          <a:prstGeom prst="roundRect">
            <a:avLst>
              <a:gd name="adj" fmla="val 5714"/>
            </a:avLst>
          </a:prstGeom>
          <a:solidFill>
            <a:srgbClr val="F4F1E8"/>
          </a:solidFill>
          <a:ln w="19050">
            <a:solidFill>
              <a:srgbClr val="C98A3C"/>
            </a:solidFill>
            <a:prstDash val="solid"/>
          </a:ln>
        </p:spPr>
      </p:sp>
      <p:sp>
        <p:nvSpPr>
          <p:cNvPr id="24" name="Text 22"/>
          <p:cNvSpPr txBox="1"/>
          <p:nvPr/>
        </p:nvSpPr>
        <p:spPr>
          <a:xfrm>
            <a:off x="6720840" y="2423160"/>
            <a:ext cx="4572000" cy="1325880"/>
          </a:xfrm>
          <a:prstGeom prst="rect">
            <a:avLst/>
          </a:prstGeom>
          <a:noFill/>
          <a:ln/>
        </p:spPr>
        <p:txBody>
          <a:bodyPr wrap="square" lIns="0" tIns="0" rIns="0" bIns="0" rtlCol="0" anchor="ctr"/>
          <a:lstStyle/>
          <a:p>
            <a:pPr marL="0" indent="0">
              <a:buNone/>
            </a:pPr>
            <a:r>
              <a:rPr lang="en-US" sz="1500" b="1" dirty="0">
                <a:solidFill>
                  <a:srgbClr val="8A5A14"/>
                </a:solidFill>
              </a:rPr>
              <a:t>The AI gate
</a:t>
            </a:r>
            <a:endParaRPr lang="en-US" sz="1500" dirty="0"/>
          </a:p>
          <a:p>
            <a:pPr marL="0" indent="0">
              <a:buNone/>
            </a:pPr>
            <a:r>
              <a:rPr lang="en-US" sz="1250" dirty="0">
                <a:solidFill>
                  <a:srgbClr val="4A3B20"/>
                </a:solidFill>
              </a:rPr>
              <a:t>Reached only from Codegen, and only for a call whose name the compiler has no rule for. One C expression, safety checked, compiled, cached.</a:t>
            </a:r>
            <a:endParaRPr lang="en-US" sz="1500" dirty="0"/>
          </a:p>
        </p:txBody>
      </p:sp>
      <p:sp>
        <p:nvSpPr>
          <p:cNvPr id="25" name="Text 23"/>
          <p:cNvSpPr txBox="1"/>
          <p:nvPr/>
        </p:nvSpPr>
        <p:spPr>
          <a:xfrm>
            <a:off x="6492240" y="4069080"/>
            <a:ext cx="5029200" cy="365760"/>
          </a:xfrm>
          <a:prstGeom prst="rect">
            <a:avLst/>
          </a:prstGeom>
          <a:noFill/>
          <a:ln/>
        </p:spPr>
        <p:txBody>
          <a:bodyPr wrap="square" lIns="0" tIns="0" rIns="0" bIns="0" rtlCol="0" anchor="ctr"/>
          <a:lstStyle/>
          <a:p>
            <a:pPr marL="0" indent="0">
              <a:buNone/>
            </a:pPr>
            <a:r>
              <a:rPr lang="en-US" sz="1300" b="1" dirty="0">
                <a:solidFill>
                  <a:srgbClr val="0E7C66"/>
                </a:solidFill>
              </a:rPr>
              <a:t>Stages 1 to 4 contain no AI whatsoever.</a:t>
            </a:r>
            <a:endParaRPr lang="en-US" sz="1300" dirty="0"/>
          </a:p>
        </p:txBody>
      </p:sp>
      <p:sp>
        <p:nvSpPr>
          <p:cNvPr id="26"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27" name="Text 25"/>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Show the Pipeline tab: the stage chips light up one by one as it compiles.</a:t>
            </a:r>
            <a:endParaRPr lang="en-US" sz="1250" dirty="0"/>
          </a:p>
        </p:txBody>
      </p:sp>
      <p:sp>
        <p:nvSpPr>
          <p:cNvPr id="28"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Stages 1 and 2  the front end</a:t>
            </a:r>
            <a:endParaRPr lang="en-US" sz="3000" dirty="0"/>
          </a:p>
        </p:txBody>
      </p:sp>
      <p:pic>
        <p:nvPicPr>
          <p:cNvPr id="3" name="Image 0" descr="C:\Users\ACER\Desktop\translation-compiler\report_submission\screenshots\gui_02_stage_lexer.png"/>
          <p:cNvPicPr>
            <a:picLocks noChangeAspect="1"/>
          </p:cNvPicPr>
          <p:nvPr/>
        </p:nvPicPr>
        <p:blipFill>
          <a:blip r:embed="rId3"/>
          <a:stretch>
            <a:fillRect/>
          </a:stretch>
        </p:blipFill>
        <p:spPr>
          <a:xfrm>
            <a:off x="594360" y="1572768"/>
            <a:ext cx="5349240" cy="2542032"/>
          </a:xfrm>
          <a:prstGeom prst="rect">
            <a:avLst/>
          </a:prstGeom>
        </p:spPr>
      </p:pic>
      <p:pic>
        <p:nvPicPr>
          <p:cNvPr id="4" name="Image 1" descr="C:\Users\ACER\Desktop\translation-compiler\report_submission\screenshots\gui_03_stage_parser.png"/>
          <p:cNvPicPr>
            <a:picLocks noChangeAspect="1"/>
          </p:cNvPicPr>
          <p:nvPr/>
        </p:nvPicPr>
        <p:blipFill>
          <a:blip r:embed="rId4"/>
          <a:stretch>
            <a:fillRect/>
          </a:stretch>
        </p:blipFill>
        <p:spPr>
          <a:xfrm>
            <a:off x="6217920" y="1572768"/>
            <a:ext cx="5349240" cy="2542032"/>
          </a:xfrm>
          <a:prstGeom prst="rect">
            <a:avLst/>
          </a:prstGeom>
        </p:spPr>
      </p:pic>
      <p:sp>
        <p:nvSpPr>
          <p:cNvPr id="5" name="Text 1"/>
          <p:cNvSpPr txBox="1"/>
          <p:nvPr/>
        </p:nvSpPr>
        <p:spPr>
          <a:xfrm>
            <a:off x="594360" y="1280160"/>
            <a:ext cx="5349240" cy="292608"/>
          </a:xfrm>
          <a:prstGeom prst="rect">
            <a:avLst/>
          </a:prstGeom>
          <a:noFill/>
          <a:ln/>
        </p:spPr>
        <p:txBody>
          <a:bodyPr wrap="square" lIns="0" tIns="0" rIns="0" bIns="0" rtlCol="0" anchor="ctr"/>
          <a:lstStyle/>
          <a:p>
            <a:pPr marL="0" indent="0">
              <a:buNone/>
            </a:pPr>
            <a:r>
              <a:rPr lang="en-US" sz="1500" b="1" dirty="0">
                <a:solidFill>
                  <a:srgbClr val="0E7C66"/>
                </a:solidFill>
              </a:rPr>
              <a:t>Lexer</a:t>
            </a:r>
            <a:endParaRPr lang="en-US" sz="1500" dirty="0"/>
          </a:p>
        </p:txBody>
      </p:sp>
      <p:sp>
        <p:nvSpPr>
          <p:cNvPr id="6" name="Text 2"/>
          <p:cNvSpPr txBox="1"/>
          <p:nvPr/>
        </p:nvSpPr>
        <p:spPr>
          <a:xfrm>
            <a:off x="6217920" y="1280160"/>
            <a:ext cx="5349240" cy="292608"/>
          </a:xfrm>
          <a:prstGeom prst="rect">
            <a:avLst/>
          </a:prstGeom>
          <a:noFill/>
          <a:ln/>
        </p:spPr>
        <p:txBody>
          <a:bodyPr wrap="square" lIns="0" tIns="0" rIns="0" bIns="0" rtlCol="0" anchor="ctr"/>
          <a:lstStyle/>
          <a:p>
            <a:pPr marL="0" indent="0">
              <a:buNone/>
            </a:pPr>
            <a:r>
              <a:rPr lang="en-US" sz="1500" b="1" dirty="0">
                <a:solidFill>
                  <a:srgbClr val="0E7C66"/>
                </a:solidFill>
              </a:rPr>
              <a:t>Parser</a:t>
            </a:r>
            <a:endParaRPr lang="en-US" sz="1500" dirty="0"/>
          </a:p>
        </p:txBody>
      </p:sp>
      <p:sp>
        <p:nvSpPr>
          <p:cNvPr id="7" name="Text 3"/>
          <p:cNvSpPr txBox="1"/>
          <p:nvPr/>
        </p:nvSpPr>
        <p:spPr>
          <a:xfrm>
            <a:off x="594360" y="4224528"/>
            <a:ext cx="5349240" cy="96012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150" dirty="0">
                <a:solidFill>
                  <a:schemeClr val="tx1"/>
                </a:solidFill>
              </a:rPr>
              <a:t>Hand written. INDENT and DEDENT come off a column stack - that is how a Python block becomes a C brace.</a:t>
            </a:r>
            <a:endParaRPr lang="en-US" sz="1150" dirty="0"/>
          </a:p>
          <a:p>
            <a:pPr marL="342900" indent="-342900">
              <a:lnSpc>
                <a:spcPct val="105000"/>
              </a:lnSpc>
              <a:spcAft>
                <a:spcPts val="500"/>
              </a:spcAft>
              <a:buSzPct val="100000"/>
              <a:buChar char="•"/>
            </a:pPr>
            <a:r>
              <a:rPr lang="en-US" sz="1150" dirty="0">
                <a:solidFill>
                  <a:schemeClr val="tx1"/>
                </a:solidFill>
              </a:rPr>
              <a:t>Every token carries its line, which is what highlights the failing line later.</a:t>
            </a:r>
            <a:endParaRPr lang="en-US" sz="1150" dirty="0"/>
          </a:p>
        </p:txBody>
      </p:sp>
      <p:sp>
        <p:nvSpPr>
          <p:cNvPr id="8" name="Text 4"/>
          <p:cNvSpPr txBox="1"/>
          <p:nvPr/>
        </p:nvSpPr>
        <p:spPr>
          <a:xfrm>
            <a:off x="6217920" y="4224528"/>
            <a:ext cx="5349240" cy="96012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150" dirty="0">
                <a:solidFill>
                  <a:schemeClr val="tx1"/>
                </a:solidFill>
              </a:rPr>
              <a:t>Recursive descent, one function per precedence level, matching Python's own table.</a:t>
            </a:r>
            <a:endParaRPr lang="en-US" sz="1150" dirty="0"/>
          </a:p>
          <a:p>
            <a:pPr marL="342900" indent="-342900">
              <a:lnSpc>
                <a:spcPct val="105000"/>
              </a:lnSpc>
              <a:spcAft>
                <a:spcPts val="500"/>
              </a:spcAft>
              <a:buSzPct val="100000"/>
              <a:buChar char="•"/>
            </a:pPr>
            <a:r>
              <a:rPr lang="en-US" sz="1150" dirty="0">
                <a:solidFill>
                  <a:schemeClr val="tx1"/>
                </a:solidFill>
              </a:rPr>
              <a:t>What the subset excludes is refused here by name, and the message says what to write instead.</a:t>
            </a:r>
            <a:endParaRPr lang="en-US" sz="1150" dirty="0"/>
          </a:p>
        </p:txBody>
      </p:sp>
      <p:sp>
        <p:nvSpPr>
          <p:cNvPr id="9"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10" name="Text 6"/>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Click the Lexer chip, scroll the token table, then click Parser and expand a node.</a:t>
            </a:r>
            <a:endParaRPr lang="en-US" sz="12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Stage 3  Semantic analysis</a:t>
            </a:r>
            <a:endParaRPr lang="en-US" sz="3000" dirty="0"/>
          </a:p>
        </p:txBody>
      </p:sp>
      <p:pic>
        <p:nvPicPr>
          <p:cNvPr id="3" name="Image 0" descr="C:\Users\ACER\Desktop\translation-compiler\report_submission\screenshots\gui_04_stage_semantic.png"/>
          <p:cNvPicPr>
            <a:picLocks noChangeAspect="1"/>
          </p:cNvPicPr>
          <p:nvPr/>
        </p:nvPicPr>
        <p:blipFill>
          <a:blip r:embed="rId3"/>
          <a:stretch>
            <a:fillRect/>
          </a:stretch>
        </p:blipFill>
        <p:spPr>
          <a:xfrm>
            <a:off x="594360" y="1280160"/>
            <a:ext cx="6766560" cy="3749040"/>
          </a:xfrm>
          <a:prstGeom prst="rect">
            <a:avLst/>
          </a:prstGeom>
        </p:spPr>
      </p:pic>
      <p:sp>
        <p:nvSpPr>
          <p:cNvPr id="4" name="Text 1"/>
          <p:cNvSpPr txBox="1"/>
          <p:nvPr/>
        </p:nvSpPr>
        <p:spPr>
          <a:xfrm>
            <a:off x="7589520" y="1280160"/>
            <a:ext cx="4023360" cy="448056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300" dirty="0">
                <a:solidFill>
                  <a:schemeClr val="tx1"/>
                </a:solidFill>
              </a:rPr>
              <a:t>Local type inference as a small dataflow pass. Types only widen along bool &lt; int &lt; float, so it reaches a fixpoint.</a:t>
            </a:r>
            <a:endParaRPr lang="en-US" sz="1300" dirty="0"/>
          </a:p>
          <a:p>
            <a:pPr marL="342900" indent="-342900">
              <a:lnSpc>
                <a:spcPct val="105000"/>
              </a:lnSpc>
              <a:spcAft>
                <a:spcPts val="900"/>
              </a:spcAft>
              <a:buSzPct val="100000"/>
              <a:buChar char="•"/>
            </a:pPr>
            <a:r>
              <a:rPr lang="en-US" sz="1300" dirty="0">
                <a:solidFill>
                  <a:schemeClr val="tx1"/>
                </a:solidFill>
              </a:rPr>
              <a:t>Definite assignment: using a name before every path assigns it is an error here, not a garbage read in C.</a:t>
            </a:r>
            <a:endParaRPr lang="en-US" sz="1300" dirty="0"/>
          </a:p>
          <a:p>
            <a:pPr marL="342900" indent="-342900">
              <a:lnSpc>
                <a:spcPct val="105000"/>
              </a:lnSpc>
              <a:spcAft>
                <a:spcPts val="900"/>
              </a:spcAft>
              <a:buSzPct val="100000"/>
              <a:buChar char="•"/>
            </a:pPr>
            <a:r>
              <a:rPr lang="en-US" sz="1300" dirty="0">
                <a:solidFill>
                  <a:schemeClr val="tx1"/>
                </a:solidFill>
              </a:rPr>
              <a:t>Return coverage: a function declared -&gt; int must return on every path, because C would fall off the end.</a:t>
            </a:r>
            <a:endParaRPr lang="en-US" sz="1300" dirty="0"/>
          </a:p>
          <a:p>
            <a:pPr marL="342900" indent="-342900">
              <a:lnSpc>
                <a:spcPct val="105000"/>
              </a:lnSpc>
              <a:spcAft>
                <a:spcPts val="900"/>
              </a:spcAft>
              <a:buSzPct val="100000"/>
              <a:buChar char="•"/>
            </a:pPr>
            <a:r>
              <a:rPr lang="en-US" sz="1300" dirty="0">
                <a:solidFill>
                  <a:schemeClr val="tx1"/>
                </a:solidFill>
              </a:rPr>
              <a:t>This phase has no AI by design. A wrong type here becomes a silently wrong value in C that no compiler would catch.</a:t>
            </a:r>
            <a:endParaRPr lang="en-US" sz="1300" dirty="0"/>
          </a:p>
        </p:txBody>
      </p:sp>
      <p:sp>
        <p:nvSpPr>
          <p:cNvPr id="5"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6" name="Text 3"/>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Click Semantic and show the inferred type table.</a:t>
            </a:r>
            <a:endParaRPr lang="en-US" sz="1250" dirty="0"/>
          </a:p>
        </p:txBody>
      </p:sp>
      <p:sp>
        <p:nvSpPr>
          <p:cNvPr id="7" name="Text 4"/>
          <p:cNvSpPr txBox="1"/>
          <p:nvPr/>
        </p:nvSpPr>
        <p:spPr>
          <a:xfrm>
            <a:off x="594360" y="5989320"/>
            <a:ext cx="10972800" cy="411480"/>
          </a:xfrm>
          <a:prstGeom prst="rect">
            <a:avLst/>
          </a:prstGeom>
          <a:noFill/>
          <a:ln/>
        </p:spPr>
        <p:txBody>
          <a:bodyPr wrap="square" lIns="0" tIns="0" rIns="0" bIns="0" rtlCol="0" anchor="ctr"/>
          <a:lstStyle/>
          <a:p>
            <a:pPr marL="0" indent="0">
              <a:buNone/>
            </a:pPr>
            <a:r>
              <a:rPr lang="en-US" sz="1100" i="1" dirty="0">
                <a:solidFill>
                  <a:srgbClr val="5A6472"/>
                </a:solidFill>
              </a:rPr>
              <a:t>Inferred types per function, the table codegen uses to hoist C declarations.</a:t>
            </a:r>
            <a:endParaRPr lang="en-US" sz="11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Stage 4  Code generation, and the C that comes out</a:t>
            </a:r>
            <a:endParaRPr lang="en-US" sz="3000" dirty="0"/>
          </a:p>
        </p:txBody>
      </p:sp>
      <p:pic>
        <p:nvPicPr>
          <p:cNvPr id="3" name="Image 0" descr="C:\Users\ACER\Desktop\translation-compiler\report_submission\screenshots\gui_05_stage_codegen.png"/>
          <p:cNvPicPr>
            <a:picLocks noChangeAspect="1"/>
          </p:cNvPicPr>
          <p:nvPr/>
        </p:nvPicPr>
        <p:blipFill>
          <a:blip r:embed="rId3"/>
          <a:stretch>
            <a:fillRect/>
          </a:stretch>
        </p:blipFill>
        <p:spPr>
          <a:xfrm>
            <a:off x="594360" y="1280160"/>
            <a:ext cx="6766560" cy="3749040"/>
          </a:xfrm>
          <a:prstGeom prst="rect">
            <a:avLst/>
          </a:prstGeom>
        </p:spPr>
      </p:pic>
      <p:sp>
        <p:nvSpPr>
          <p:cNvPr id="4" name="Text 1"/>
          <p:cNvSpPr txBox="1"/>
          <p:nvPr/>
        </p:nvSpPr>
        <p:spPr>
          <a:xfrm>
            <a:off x="7589520" y="1280160"/>
            <a:ext cx="4023360" cy="448056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300" dirty="0">
                <a:solidFill>
                  <a:schemeClr val="tx1"/>
                </a:solidFill>
              </a:rPr>
              <a:t>One rule per AST node. Only the runtime helpers a program actually uses are emitted.</a:t>
            </a:r>
            <a:endParaRPr lang="en-US" sz="1300" dirty="0"/>
          </a:p>
          <a:p>
            <a:pPr marL="342900" indent="-342900">
              <a:lnSpc>
                <a:spcPct val="105000"/>
              </a:lnSpc>
              <a:spcAft>
                <a:spcPts val="900"/>
              </a:spcAft>
              <a:buSzPct val="100000"/>
              <a:buChar char="•"/>
            </a:pPr>
            <a:r>
              <a:rPr lang="en-US" sz="1300" dirty="0">
                <a:solidFill>
                  <a:schemeClr val="tx1"/>
                </a:solidFill>
              </a:rPr>
              <a:t>Helpers exist where C disagrees with Python: floor division, modulo of negatives, float formatting, power.</a:t>
            </a:r>
            <a:endParaRPr lang="en-US" sz="1300" dirty="0"/>
          </a:p>
          <a:p>
            <a:pPr marL="342900" indent="-342900">
              <a:lnSpc>
                <a:spcPct val="105000"/>
              </a:lnSpc>
              <a:spcAft>
                <a:spcPts val="900"/>
              </a:spcAft>
              <a:buSzPct val="100000"/>
              <a:buChar char="•"/>
            </a:pPr>
            <a:r>
              <a:rPr lang="en-US" sz="1300" dirty="0">
                <a:solidFill>
                  <a:schemeClr val="tx1"/>
                </a:solidFill>
              </a:rPr>
              <a:t>Every integer literal carries LL. Without it C types the literal int and computes in 32 bits - 10^18 came out as -1486618624.</a:t>
            </a:r>
            <a:endParaRPr lang="en-US" sz="1300" dirty="0"/>
          </a:p>
          <a:p>
            <a:pPr marL="342900" indent="-342900">
              <a:lnSpc>
                <a:spcPct val="105000"/>
              </a:lnSpc>
              <a:spcAft>
                <a:spcPts val="900"/>
              </a:spcAft>
              <a:buSzPct val="100000"/>
              <a:buChar char="•"/>
            </a:pPr>
            <a:r>
              <a:rPr lang="en-US" sz="1300" dirty="0">
                <a:solidFill>
                  <a:schemeClr val="tx1"/>
                </a:solidFill>
              </a:rPr>
              <a:t>The result is one self contained .c file: cc out.c -lm -o out, with no headers of ours to install.</a:t>
            </a:r>
            <a:endParaRPr lang="en-US" sz="1300" dirty="0"/>
          </a:p>
        </p:txBody>
      </p:sp>
      <p:sp>
        <p:nvSpPr>
          <p:cNvPr id="5"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6" name="Text 3"/>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Press Translate, then F5 to run the generated C. The C runs, not the Python.</a:t>
            </a:r>
            <a:endParaRPr lang="en-US" sz="1250" dirty="0"/>
          </a:p>
        </p:txBody>
      </p:sp>
      <p:sp>
        <p:nvSpPr>
          <p:cNvPr id="7" name="Text 4"/>
          <p:cNvSpPr txBox="1"/>
          <p:nvPr/>
        </p:nvSpPr>
        <p:spPr>
          <a:xfrm>
            <a:off x="594360" y="5989320"/>
            <a:ext cx="10972800" cy="411480"/>
          </a:xfrm>
          <a:prstGeom prst="rect">
            <a:avLst/>
          </a:prstGeom>
          <a:noFill/>
          <a:ln/>
        </p:spPr>
        <p:txBody>
          <a:bodyPr wrap="square" lIns="0" tIns="0" rIns="0" bIns="0" rtlCol="0" anchor="ctr"/>
          <a:lstStyle/>
          <a:p>
            <a:pPr marL="0" indent="0">
              <a:buNone/>
            </a:pPr>
            <a:r>
              <a:rPr lang="en-US" sz="1100" i="1" dirty="0">
                <a:solidFill>
                  <a:srgbClr val="5A6472"/>
                </a:solidFill>
              </a:rPr>
              <a:t>The generated C, beside the program it came from.</a:t>
            </a:r>
            <a:endParaRPr lang="en-US" sz="11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097280"/>
          </a:xfrm>
          <a:prstGeom prst="rect">
            <a:avLst/>
          </a:prstGeom>
          <a:noFill/>
          <a:ln/>
        </p:spPr>
        <p:txBody>
          <a:bodyPr wrap="square" rtlCol="0"/>
          <a:lstStyle/>
          <a:p>
            <a:pPr marL="0" indent="0" algn="l">
              <a:buNone/>
            </a:pPr>
            <a:r>
              <a:rPr lang="en-US" sz="3600" b="1" dirty="0">
                <a:solidFill>
                  <a:schemeClr val="bg1"/>
                </a:solidFill>
              </a:rPr>
              <a:t>Part 2  Proof, and the AI that is allowed in</a:t>
            </a:r>
            <a:endParaRPr lang="en-US" sz="3600" dirty="0"/>
          </a:p>
        </p:txBody>
      </p:sp>
      <p:sp>
        <p:nvSpPr>
          <p:cNvPr id="3" name="Text 0"/>
          <p:cNvSpPr>
            <a:spLocks noGrp="1"/>
          </p:cNvSpPr>
          <p:nvPr>
            <p:ph type="body" idx="101" hasCustomPrompt="1"/>
          </p:nvPr>
        </p:nvSpPr>
        <p:spPr>
          <a:xfrm>
            <a:off x="822960" y="3566160"/>
            <a:ext cx="10515600" cy="1645920"/>
          </a:xfrm>
          <a:prstGeom prst="rect">
            <a:avLst/>
          </a:prstGeom>
          <a:noFill/>
          <a:ln/>
        </p:spPr>
        <p:txBody>
          <a:bodyPr wrap="square" rtlCol="0"/>
          <a:lstStyle/>
          <a:p>
            <a:pPr marL="0" indent="0" algn="l">
              <a:buNone/>
            </a:pPr>
            <a:r>
              <a:rPr lang="en-US" sz="1600" dirty="0">
                <a:solidFill>
                  <a:srgbClr val="AEBAC6"/>
                </a:solidFill>
              </a:rPr>
              <a:t>Abendra Adhikari  -  what byte for byte means, the gate, and whole program repair</a:t>
            </a:r>
            <a:endParaRPr lang="en-US" sz="16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4"/>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What byte for byte actually means</a:t>
            </a:r>
            <a:endParaRPr lang="en-US" sz="3000" dirty="0"/>
          </a:p>
        </p:txBody>
      </p:sp>
      <p:sp>
        <p:nvSpPr>
          <p:cNvPr id="3" name="Text 1"/>
          <p:cNvSpPr txBox="1"/>
          <p:nvPr/>
        </p:nvSpPr>
        <p:spPr>
          <a:xfrm>
            <a:off x="594360" y="1325880"/>
            <a:ext cx="5577840" cy="448056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500" dirty="0">
                <a:solidFill>
                  <a:schemeClr val="tx1"/>
                </a:solidFill>
              </a:rPr>
              <a:t>Not 'the output looks right'. The raw bytes, compared with ==, including the trailing newline and the exit status.</a:t>
            </a:r>
            <a:endParaRPr lang="en-US" sz="1500" dirty="0"/>
          </a:p>
          <a:p>
            <a:pPr marL="342900" indent="-342900">
              <a:lnSpc>
                <a:spcPct val="105000"/>
              </a:lnSpc>
              <a:spcAft>
                <a:spcPts val="900"/>
              </a:spcAft>
              <a:buSzPct val="100000"/>
              <a:buChar char="•"/>
            </a:pPr>
            <a:r>
              <a:rPr lang="en-US" sz="1500" dirty="0">
                <a:solidFill>
                  <a:schemeClr val="tx1"/>
                </a:solidFill>
              </a:rPr>
              <a:t>Captured as bytes, never as text. Python's text mode turns CRLF into LF on both sides, which hides exactly the difference we are looking for.</a:t>
            </a:r>
            <a:endParaRPr lang="en-US" sz="1500" dirty="0"/>
          </a:p>
          <a:p>
            <a:pPr marL="342900" indent="-342900">
              <a:lnSpc>
                <a:spcPct val="105000"/>
              </a:lnSpc>
              <a:spcAft>
                <a:spcPts val="900"/>
              </a:spcAft>
              <a:buSzPct val="100000"/>
              <a:buChar char="•"/>
            </a:pPr>
            <a:r>
              <a:rPr lang="en-US" sz="1500" dirty="0">
                <a:solidFill>
                  <a:schemeClr val="tx1"/>
                </a:solidFill>
              </a:rPr>
              <a:t>The original is run twice before anything else happens. A program that disagrees with itself cannot have a repair verified against it.</a:t>
            </a:r>
            <a:endParaRPr lang="en-US" sz="1500" dirty="0"/>
          </a:p>
          <a:p>
            <a:pPr marL="342900" indent="-342900">
              <a:lnSpc>
                <a:spcPct val="105000"/>
              </a:lnSpc>
              <a:spcAft>
                <a:spcPts val="900"/>
              </a:spcAft>
              <a:buSzPct val="100000"/>
              <a:buChar char="•"/>
            </a:pPr>
            <a:r>
              <a:rPr lang="en-US" sz="1500" dirty="0">
                <a:solidFill>
                  <a:schemeClr val="tx1"/>
                </a:solidFill>
              </a:rPr>
              <a:t>A program that never finishes has no finite output, so it is refused before a single token is spent.</a:t>
            </a:r>
            <a:endParaRPr lang="en-US" sz="1500" dirty="0"/>
          </a:p>
        </p:txBody>
      </p:sp>
      <p:sp>
        <p:nvSpPr>
          <p:cNvPr id="4" name="code frame"/>
          <p:cNvSpPr/>
          <p:nvPr/>
        </p:nvSpPr>
        <p:spPr>
          <a:xfrm>
            <a:off x="6309360" y="1371600"/>
            <a:ext cx="5303520" cy="1691640"/>
          </a:xfrm>
          <a:prstGeom prst="roundRect">
            <a:avLst>
              <a:gd name="adj" fmla="val 3243"/>
            </a:avLst>
          </a:prstGeom>
          <a:solidFill>
            <a:srgbClr val="F2F5F7"/>
          </a:solidFill>
          <a:ln w="12700">
            <a:solidFill>
              <a:srgbClr val="DCE3E9"/>
            </a:solidFill>
            <a:prstDash val="solid"/>
          </a:ln>
        </p:spPr>
      </p:sp>
      <p:sp>
        <p:nvSpPr>
          <p:cNvPr id="5" name="Text 3"/>
          <p:cNvSpPr txBox="1"/>
          <p:nvPr/>
        </p:nvSpPr>
        <p:spPr>
          <a:xfrm>
            <a:off x="6492240" y="1517904"/>
            <a:ext cx="4937760" cy="1399032"/>
          </a:xfrm>
          <a:prstGeom prst="rect">
            <a:avLst/>
          </a:prstGeom>
          <a:noFill/>
          <a:ln/>
        </p:spPr>
        <p:txBody>
          <a:bodyPr wrap="square" lIns="0" tIns="0" rIns="0" bIns="0" rtlCol="0" anchor="ctr"/>
          <a:lstStyle/>
          <a:p>
            <a:pPr marL="0" indent="0">
              <a:lnSpc>
                <a:spcPct val="112000"/>
              </a:lnSpc>
              <a:buNone/>
            </a:pPr>
            <a:r>
              <a:rPr lang="en-US" sz="1100" dirty="0">
                <a:solidFill>
                  <a:srgbClr val="232A34"/>
                </a:solidFill>
                <a:latin typeface="Courier New" pitchFamily="34" charset="0"/>
                <a:ea typeface="Courier New" pitchFamily="34" charset="-122"/>
                <a:cs typeface="Courier New" pitchFamily="34" charset="-120"/>
              </a:rPr>
              <a:t>target: 115 bytes, exit 0</a:t>
            </a:r>
            <a:endParaRPr lang="en-US" sz="1100" dirty="0"/>
          </a:p>
          <a:p>
            <a:pPr marL="0" indent="0">
              <a:lnSpc>
                <a:spcPct val="112000"/>
              </a:lnSpc>
              <a:buNone/>
            </a:pPr>
            <a:r>
              <a:rPr lang="en-US" sz="1100" dirty="0">
                <a:solidFill>
                  <a:srgbClr val="232A34"/>
                </a:solidFill>
                <a:latin typeface="Courier New" pitchFamily="34" charset="0"/>
                <a:ea typeface="Courier New" pitchFamily="34" charset="-122"/>
                <a:cs typeface="Courier New" pitchFamily="34" charset="-120"/>
              </a:rPr>
              <a:t>  your program, CPython      identical</a:t>
            </a:r>
            <a:endParaRPr lang="en-US" sz="1100" dirty="0"/>
          </a:p>
          <a:p>
            <a:pPr marL="0" indent="0">
              <a:lnSpc>
                <a:spcPct val="112000"/>
              </a:lnSpc>
              <a:buNone/>
            </a:pPr>
            <a:r>
              <a:rPr lang="en-US" sz="1100" dirty="0">
                <a:solidFill>
                  <a:srgbClr val="232A34"/>
                </a:solidFill>
                <a:latin typeface="Courier New" pitchFamily="34" charset="0"/>
                <a:ea typeface="Courier New" pitchFamily="34" charset="-122"/>
                <a:cs typeface="Courier New" pitchFamily="34" charset="-120"/>
              </a:rPr>
              <a:t>  the rewrite, CPython       identical</a:t>
            </a:r>
            <a:endParaRPr lang="en-US" sz="1100" dirty="0"/>
          </a:p>
          <a:p>
            <a:pPr marL="0" indent="0">
              <a:lnSpc>
                <a:spcPct val="112000"/>
              </a:lnSpc>
              <a:buNone/>
            </a:pPr>
            <a:r>
              <a:rPr lang="en-US" sz="1100" dirty="0">
                <a:solidFill>
                  <a:srgbClr val="232A34"/>
                </a:solidFill>
                <a:latin typeface="Courier New" pitchFamily="34" charset="0"/>
                <a:ea typeface="Courier New" pitchFamily="34" charset="-122"/>
                <a:cs typeface="Courier New" pitchFamily="34" charset="-120"/>
              </a:rPr>
              <a:t>  the compiled C, run 1      identical</a:t>
            </a:r>
            <a:endParaRPr lang="en-US" sz="1100" dirty="0"/>
          </a:p>
          <a:p>
            <a:pPr marL="0" indent="0">
              <a:lnSpc>
                <a:spcPct val="112000"/>
              </a:lnSpc>
              <a:buNone/>
            </a:pPr>
            <a:r>
              <a:rPr lang="en-US" sz="1100" dirty="0">
                <a:solidFill>
                  <a:srgbClr val="232A34"/>
                </a:solidFill>
                <a:latin typeface="Courier New" pitchFamily="34" charset="0"/>
                <a:ea typeface="Courier New" pitchFamily="34" charset="-122"/>
                <a:cs typeface="Courier New" pitchFamily="34" charset="-120"/>
              </a:rPr>
              <a:t>  the compiled C, run 2      identical</a:t>
            </a:r>
            <a:endParaRPr lang="en-US" sz="1100" dirty="0"/>
          </a:p>
        </p:txBody>
      </p:sp>
      <p:sp>
        <p:nvSpPr>
          <p:cNvPr id="6" name="verdict badge"/>
          <p:cNvSpPr/>
          <p:nvPr/>
        </p:nvSpPr>
        <p:spPr>
          <a:xfrm>
            <a:off x="6309360" y="3291840"/>
            <a:ext cx="5303520" cy="548640"/>
          </a:xfrm>
          <a:prstGeom prst="roundRect">
            <a:avLst>
              <a:gd name="adj" fmla="val 16667"/>
            </a:avLst>
          </a:prstGeom>
          <a:solidFill>
            <a:srgbClr val="0E7C66"/>
          </a:solidFill>
          <a:ln w="12700">
            <a:solidFill>
              <a:srgbClr val="0E7C66"/>
            </a:solidFill>
            <a:prstDash val="solid"/>
          </a:ln>
        </p:spPr>
      </p:sp>
      <p:sp>
        <p:nvSpPr>
          <p:cNvPr id="7" name="Text 5"/>
          <p:cNvSpPr txBox="1"/>
          <p:nvPr/>
        </p:nvSpPr>
        <p:spPr>
          <a:xfrm>
            <a:off x="6473952" y="3291840"/>
            <a:ext cx="4974336" cy="548640"/>
          </a:xfrm>
          <a:prstGeom prst="rect">
            <a:avLst/>
          </a:prstGeom>
          <a:noFill/>
          <a:ln/>
        </p:spPr>
        <p:txBody>
          <a:bodyPr wrap="square" lIns="0" tIns="0" rIns="0" bIns="0" rtlCol="0" anchor="ctr"/>
          <a:lstStyle/>
          <a:p>
            <a:pPr marL="0" indent="0">
              <a:buNone/>
            </a:pPr>
            <a:r>
              <a:rPr lang="en-US" sz="1300" b="1" dirty="0">
                <a:solidFill>
                  <a:srgbClr val="FFFFFF"/>
                </a:solidFill>
              </a:rPr>
              <a:t>ACCEPTED   verified byte for byte</a:t>
            </a:r>
            <a:endParaRPr lang="en-US" sz="1300" dirty="0"/>
          </a:p>
        </p:txBody>
      </p:sp>
      <p:sp>
        <p:nvSpPr>
          <p:cNvPr id="8" name="Text 6"/>
          <p:cNvSpPr txBox="1"/>
          <p:nvPr/>
        </p:nvSpPr>
        <p:spPr>
          <a:xfrm>
            <a:off x="6309360" y="4069080"/>
            <a:ext cx="5303520" cy="731520"/>
          </a:xfrm>
          <a:prstGeom prst="rect">
            <a:avLst/>
          </a:prstGeom>
          <a:noFill/>
          <a:ln/>
        </p:spPr>
        <p:txBody>
          <a:bodyPr wrap="square" lIns="0" tIns="0" rIns="0" bIns="0" rtlCol="0" anchor="ctr"/>
          <a:lstStyle/>
          <a:p>
            <a:pPr marL="0" indent="0">
              <a:buNone/>
            </a:pPr>
            <a:r>
              <a:rPr lang="en-US" sz="1300" i="1" dirty="0">
                <a:solidFill>
                  <a:srgbClr val="5A6472"/>
                </a:solidFill>
              </a:rPr>
              <a:t>Four runs, two programs, one answer. Anything less is a refusal.</a:t>
            </a:r>
            <a:endParaRPr lang="en-US" sz="1300" dirty="0"/>
          </a:p>
        </p:txBody>
      </p:sp>
      <p:sp>
        <p:nvSpPr>
          <p:cNvPr id="9"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10" name="Text 8"/>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In the repair window press 'Run both and compare' - it redoes the comparison live.</a:t>
            </a:r>
            <a:endParaRPr lang="en-US" sz="12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The AI gate  one expression, and a wall around it</a:t>
            </a:r>
            <a:endParaRPr lang="en-US" sz="3000" dirty="0"/>
          </a:p>
        </p:txBody>
      </p:sp>
      <p:pic>
        <p:nvPicPr>
          <p:cNvPr id="3" name="Image 0" descr="C:\Users\ACER\Desktop\translation-compiler\report_submission\screenshots\gui_07_ai_gate_report.png"/>
          <p:cNvPicPr>
            <a:picLocks noChangeAspect="1"/>
          </p:cNvPicPr>
          <p:nvPr/>
        </p:nvPicPr>
        <p:blipFill>
          <a:blip r:embed="rId3"/>
          <a:stretch>
            <a:fillRect/>
          </a:stretch>
        </p:blipFill>
        <p:spPr>
          <a:xfrm>
            <a:off x="594360" y="1280160"/>
            <a:ext cx="6766560" cy="3749040"/>
          </a:xfrm>
          <a:prstGeom prst="rect">
            <a:avLst/>
          </a:prstGeom>
        </p:spPr>
      </p:pic>
      <p:sp>
        <p:nvSpPr>
          <p:cNvPr id="4" name="Text 1"/>
          <p:cNvSpPr txBox="1"/>
          <p:nvPr/>
        </p:nvSpPr>
        <p:spPr>
          <a:xfrm>
            <a:off x="7589520" y="1280160"/>
            <a:ext cx="4023360" cy="448056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300" dirty="0">
                <a:solidFill>
                  <a:schemeClr val="tx1"/>
                </a:solidFill>
              </a:rPr>
              <a:t>Fires only for a call the compiler has no rule for, and only for a numeric one.</a:t>
            </a:r>
            <a:endParaRPr lang="en-US" sz="1300" dirty="0"/>
          </a:p>
          <a:p>
            <a:pPr marL="342900" indent="-342900">
              <a:lnSpc>
                <a:spcPct val="105000"/>
              </a:lnSpc>
              <a:spcAft>
                <a:spcPts val="900"/>
              </a:spcAft>
              <a:buSzPct val="100000"/>
              <a:buChar char="•"/>
            </a:pPr>
            <a:r>
              <a:rPr lang="en-US" sz="1300" dirty="0">
                <a:solidFill>
                  <a:schemeClr val="tx1"/>
                </a:solidFill>
              </a:rPr>
              <a:t>The model may return a single C expression. Not a statement, not a function, not an include.</a:t>
            </a:r>
            <a:endParaRPr lang="en-US" sz="1300" dirty="0"/>
          </a:p>
          <a:p>
            <a:pPr marL="342900" indent="-342900">
              <a:lnSpc>
                <a:spcPct val="105000"/>
              </a:lnSpc>
              <a:spcAft>
                <a:spcPts val="900"/>
              </a:spcAft>
              <a:buSzPct val="100000"/>
              <a:buChar char="•"/>
            </a:pPr>
            <a:r>
              <a:rPr lang="en-US" sz="1300" dirty="0">
                <a:solidFill>
                  <a:schemeClr val="tx1"/>
                </a:solidFill>
              </a:rPr>
              <a:t>The answer is checked against a whitelist, then compiled by a real C compiler, then cached by name and arity.</a:t>
            </a:r>
            <a:endParaRPr lang="en-US" sz="1300" dirty="0"/>
          </a:p>
          <a:p>
            <a:pPr marL="342900" indent="-342900">
              <a:lnSpc>
                <a:spcPct val="105000"/>
              </a:lnSpc>
              <a:spcAft>
                <a:spcPts val="900"/>
              </a:spcAft>
              <a:buSzPct val="100000"/>
              <a:buChar char="•"/>
            </a:pPr>
            <a:r>
              <a:rPr lang="en-US" sz="1300" dirty="0">
                <a:solidFill>
                  <a:schemeClr val="tx1"/>
                </a:solidFill>
              </a:rPr>
              <a:t>A cached answer costs nothing on the next run, so the same program twice is one model call, not two.</a:t>
            </a:r>
            <a:endParaRPr lang="en-US" sz="1300" dirty="0"/>
          </a:p>
        </p:txBody>
      </p:sp>
      <p:sp>
        <p:nvSpPr>
          <p:cNvPr id="5"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6" name="Text 3"/>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Turn AI assist on and translate the program that calls hypotenuse().</a:t>
            </a:r>
            <a:endParaRPr lang="en-US" sz="1250" dirty="0"/>
          </a:p>
        </p:txBody>
      </p:sp>
      <p:sp>
        <p:nvSpPr>
          <p:cNvPr id="7" name="Text 4"/>
          <p:cNvSpPr txBox="1"/>
          <p:nvPr/>
        </p:nvSpPr>
        <p:spPr>
          <a:xfrm>
            <a:off x="594360" y="5989320"/>
            <a:ext cx="10972800" cy="411480"/>
          </a:xfrm>
          <a:prstGeom prst="rect">
            <a:avLst/>
          </a:prstGeom>
          <a:noFill/>
          <a:ln/>
        </p:spPr>
        <p:txBody>
          <a:bodyPr wrap="square" lIns="0" tIns="0" rIns="0" bIns="0" rtlCol="0" anchor="ctr"/>
          <a:lstStyle/>
          <a:p>
            <a:pPr marL="0" indent="0">
              <a:buNone/>
            </a:pPr>
            <a:r>
              <a:rPr lang="en-US" sz="1100" i="1" dirty="0">
                <a:solidFill>
                  <a:srgbClr val="5A6472"/>
                </a:solidFill>
              </a:rPr>
              <a:t>The gate's own report: which call sites it resolved, what it returned, and what it cost.</a:t>
            </a:r>
            <a:endParaRPr lang="en-US" sz="11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With the gate off, it is a hard error - never a guess</a:t>
            </a:r>
            <a:endParaRPr lang="en-US" sz="3000" dirty="0"/>
          </a:p>
        </p:txBody>
      </p:sp>
      <p:pic>
        <p:nvPicPr>
          <p:cNvPr id="3" name="Image 0" descr="C:\Users\ACER\Desktop\translation-compiler\report_submission\screenshots\cli_05_gate_off_fails.png"/>
          <p:cNvPicPr>
            <a:picLocks noChangeAspect="1"/>
          </p:cNvPicPr>
          <p:nvPr/>
        </p:nvPicPr>
        <p:blipFill>
          <a:blip r:embed="rId3"/>
          <a:stretch>
            <a:fillRect/>
          </a:stretch>
        </p:blipFill>
        <p:spPr>
          <a:xfrm>
            <a:off x="594360" y="1371600"/>
            <a:ext cx="6949440" cy="2286000"/>
          </a:xfrm>
          <a:prstGeom prst="rect">
            <a:avLst/>
          </a:prstGeom>
        </p:spPr>
      </p:pic>
      <p:sp>
        <p:nvSpPr>
          <p:cNvPr id="4" name="Text 1"/>
          <p:cNvSpPr txBox="1"/>
          <p:nvPr/>
        </p:nvSpPr>
        <p:spPr>
          <a:xfrm>
            <a:off x="594360" y="3794760"/>
            <a:ext cx="10972800" cy="132588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350" dirty="0">
                <a:solidFill>
                  <a:schemeClr val="tx1"/>
                </a:solidFill>
              </a:rPr>
              <a:t>The same program with AI assist off does not silently emit something plausible.</a:t>
            </a:r>
            <a:endParaRPr lang="en-US" sz="1350" dirty="0"/>
          </a:p>
          <a:p>
            <a:pPr marL="342900" indent="-342900">
              <a:lnSpc>
                <a:spcPct val="105000"/>
              </a:lnSpc>
              <a:spcAft>
                <a:spcPts val="500"/>
              </a:spcAft>
              <a:buSzPct val="100000"/>
              <a:buChar char="•"/>
            </a:pPr>
            <a:r>
              <a:rPr lang="en-US" sz="1350" dirty="0">
                <a:solidFill>
                  <a:schemeClr val="tx1"/>
                </a:solidFill>
              </a:rPr>
              <a:t>It names the call it cannot translate and stops. The compiler fails closed.</a:t>
            </a:r>
            <a:endParaRPr lang="en-US" sz="1350" dirty="0"/>
          </a:p>
          <a:p>
            <a:pPr marL="342900" indent="-342900">
              <a:lnSpc>
                <a:spcPct val="105000"/>
              </a:lnSpc>
              <a:spcAft>
                <a:spcPts val="500"/>
              </a:spcAft>
              <a:buSzPct val="100000"/>
              <a:buChar char="•"/>
            </a:pPr>
            <a:r>
              <a:rPr lang="en-US" sz="1350" dirty="0">
                <a:solidFill>
                  <a:schemeClr val="tx1"/>
                </a:solidFill>
              </a:rPr>
              <a:t>This is the difference between a tool you can trust and a tool that is usually right.</a:t>
            </a:r>
            <a:endParaRPr lang="en-US" sz="1350" dirty="0"/>
          </a:p>
          <a:p>
            <a:pPr marL="342900" indent="-342900">
              <a:lnSpc>
                <a:spcPct val="105000"/>
              </a:lnSpc>
              <a:spcAft>
                <a:spcPts val="500"/>
              </a:spcAft>
              <a:buSzPct val="100000"/>
              <a:buChar char="•"/>
            </a:pPr>
            <a:r>
              <a:rPr lang="en-US" sz="1350" dirty="0">
                <a:solidFill>
                  <a:schemeClr val="tx1"/>
                </a:solidFill>
              </a:rPr>
              <a:t>It also makes the AI's contribution measurable: turn it off and the program does not compile.</a:t>
            </a:r>
            <a:endParaRPr lang="en-US" sz="1350" dirty="0"/>
          </a:p>
        </p:txBody>
      </p:sp>
      <p:sp>
        <p:nvSpPr>
          <p:cNvPr id="5"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6" name="Text 3"/>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Toggle AI assist off, translate the same file, show the error naming the call.</a:t>
            </a:r>
            <a:endParaRPr lang="en-US" sz="12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Repair  when the program itself is outside the subset</a:t>
            </a:r>
            <a:endParaRPr lang="en-US" sz="3000" dirty="0"/>
          </a:p>
        </p:txBody>
      </p:sp>
      <p:pic>
        <p:nvPicPr>
          <p:cNvPr id="3" name="Image 0" descr="C:\Users\ACER\Desktop\translation-compiler\report_submission\screenshots\gui_09_repair_comparison.png"/>
          <p:cNvPicPr>
            <a:picLocks noChangeAspect="1"/>
          </p:cNvPicPr>
          <p:nvPr/>
        </p:nvPicPr>
        <p:blipFill>
          <a:blip r:embed="rId3"/>
          <a:stretch>
            <a:fillRect/>
          </a:stretch>
        </p:blipFill>
        <p:spPr>
          <a:xfrm>
            <a:off x="594360" y="1280160"/>
            <a:ext cx="6766560" cy="3749040"/>
          </a:xfrm>
          <a:prstGeom prst="rect">
            <a:avLst/>
          </a:prstGeom>
        </p:spPr>
      </p:pic>
      <p:sp>
        <p:nvSpPr>
          <p:cNvPr id="4" name="Text 1"/>
          <p:cNvSpPr txBox="1"/>
          <p:nvPr/>
        </p:nvSpPr>
        <p:spPr>
          <a:xfrm>
            <a:off x="7589520" y="1280160"/>
            <a:ext cx="4023360" cy="448056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300" dirty="0">
                <a:solidFill>
                  <a:schemeClr val="tx1"/>
                </a:solidFill>
              </a:rPr>
              <a:t>A different problem from the gate: here the whole program cannot be translated, not one call.</a:t>
            </a:r>
            <a:endParaRPr lang="en-US" sz="1300" dirty="0"/>
          </a:p>
          <a:p>
            <a:pPr marL="342900" indent="-342900">
              <a:lnSpc>
                <a:spcPct val="105000"/>
              </a:lnSpc>
              <a:spcAft>
                <a:spcPts val="900"/>
              </a:spcAft>
              <a:buSzPct val="100000"/>
              <a:buChar char="•"/>
            </a:pPr>
            <a:r>
              <a:rPr lang="en-US" sz="1300" dirty="0">
                <a:solidFill>
                  <a:schemeClr val="tx1"/>
                </a:solidFill>
              </a:rPr>
              <a:t>The model is asked to reimplement it inside the subset - rewrite, not transliterate.</a:t>
            </a:r>
            <a:endParaRPr lang="en-US" sz="1300" dirty="0"/>
          </a:p>
          <a:p>
            <a:pPr marL="342900" indent="-342900">
              <a:lnSpc>
                <a:spcPct val="105000"/>
              </a:lnSpc>
              <a:spcAft>
                <a:spcPts val="900"/>
              </a:spcAft>
              <a:buSzPct val="100000"/>
              <a:buChar char="•"/>
            </a:pPr>
            <a:r>
              <a:rPr lang="en-US" sz="1300" dirty="0">
                <a:solidFill>
                  <a:schemeClr val="tx1"/>
                </a:solidFill>
              </a:rPr>
              <a:t>The rewrite goes through the entire compiler like any other program. Nothing is special cased for it.</a:t>
            </a:r>
            <a:endParaRPr lang="en-US" sz="1300" dirty="0"/>
          </a:p>
          <a:p>
            <a:pPr marL="342900" indent="-342900">
              <a:lnSpc>
                <a:spcPct val="105000"/>
              </a:lnSpc>
              <a:spcAft>
                <a:spcPts val="900"/>
              </a:spcAft>
              <a:buSzPct val="100000"/>
              <a:buChar char="•"/>
            </a:pPr>
            <a:r>
              <a:rPr lang="en-US" sz="1300" dirty="0">
                <a:solidFill>
                  <a:schemeClr val="tx1"/>
                </a:solidFill>
              </a:rPr>
              <a:t>Original on the left, rewrite on the right, and the rewrite is only shown once it has passed.</a:t>
            </a:r>
            <a:endParaRPr lang="en-US" sz="1300" dirty="0"/>
          </a:p>
        </p:txBody>
      </p:sp>
      <p:sp>
        <p:nvSpPr>
          <p:cNvPr id="5"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6" name="Text 3"/>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Open demos/repair_me.py, translate it, let the repair window open.</a:t>
            </a:r>
            <a:endParaRPr lang="en-US" sz="12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What has to be true before a repair is accepted</a:t>
            </a:r>
            <a:endParaRPr lang="en-US" sz="3000" dirty="0"/>
          </a:p>
        </p:txBody>
      </p:sp>
      <p:sp>
        <p:nvSpPr>
          <p:cNvPr id="3" name="tick 0"/>
          <p:cNvSpPr/>
          <p:nvPr/>
        </p:nvSpPr>
        <p:spPr>
          <a:xfrm>
            <a:off x="640080" y="1380744"/>
            <a:ext cx="347472" cy="347472"/>
          </a:xfrm>
          <a:prstGeom prst="ellipse">
            <a:avLst/>
          </a:prstGeom>
          <a:solidFill>
            <a:srgbClr val="0E7C66"/>
          </a:solidFill>
          <a:ln w="12700">
            <a:solidFill>
              <a:srgbClr val="0E7C66"/>
            </a:solidFill>
            <a:prstDash val="solid"/>
          </a:ln>
        </p:spPr>
      </p:sp>
      <p:sp>
        <p:nvSpPr>
          <p:cNvPr id="4" name="Text 2"/>
          <p:cNvSpPr txBox="1"/>
          <p:nvPr/>
        </p:nvSpPr>
        <p:spPr>
          <a:xfrm>
            <a:off x="640080" y="138074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5" name="Text 3"/>
          <p:cNvSpPr txBox="1"/>
          <p:nvPr/>
        </p:nvSpPr>
        <p:spPr>
          <a:xfrm>
            <a:off x="1152144" y="1325880"/>
            <a:ext cx="5486400" cy="292608"/>
          </a:xfrm>
          <a:prstGeom prst="rect">
            <a:avLst/>
          </a:prstGeom>
          <a:noFill/>
          <a:ln/>
        </p:spPr>
        <p:txBody>
          <a:bodyPr wrap="square" lIns="0" tIns="0" rIns="0" bIns="0" rtlCol="0" anchor="ctr"/>
          <a:lstStyle/>
          <a:p>
            <a:pPr marL="0" indent="0">
              <a:buNone/>
            </a:pPr>
            <a:r>
              <a:rPr lang="en-US" sz="1450" b="1" dirty="0">
                <a:solidFill>
                  <a:schemeClr val="tx1"/>
                </a:solidFill>
              </a:rPr>
              <a:t>It parses, and declares main()</a:t>
            </a:r>
            <a:endParaRPr lang="en-US" sz="1450" dirty="0"/>
          </a:p>
        </p:txBody>
      </p:sp>
      <p:sp>
        <p:nvSpPr>
          <p:cNvPr id="6" name="Text 4"/>
          <p:cNvSpPr txBox="1"/>
          <p:nvPr/>
        </p:nvSpPr>
        <p:spPr>
          <a:xfrm>
            <a:off x="1152144" y="1600200"/>
            <a:ext cx="5760720" cy="292608"/>
          </a:xfrm>
          <a:prstGeom prst="rect">
            <a:avLst/>
          </a:prstGeom>
          <a:noFill/>
          <a:ln/>
        </p:spPr>
        <p:txBody>
          <a:bodyPr wrap="square" lIns="0" tIns="0" rIns="0" bIns="0" rtlCol="0" anchor="ctr"/>
          <a:lstStyle/>
          <a:p>
            <a:pPr marL="0" indent="0">
              <a:buNone/>
            </a:pPr>
            <a:r>
              <a:rPr lang="en-US" sz="1200" dirty="0">
                <a:solidFill>
                  <a:srgbClr val="5A6472"/>
                </a:solidFill>
              </a:rPr>
              <a:t>a courtesy check before the compiler sees it</a:t>
            </a:r>
            <a:endParaRPr lang="en-US" sz="1200" dirty="0"/>
          </a:p>
        </p:txBody>
      </p:sp>
      <p:sp>
        <p:nvSpPr>
          <p:cNvPr id="7" name="tick 1"/>
          <p:cNvSpPr/>
          <p:nvPr/>
        </p:nvSpPr>
        <p:spPr>
          <a:xfrm>
            <a:off x="640080" y="2148840"/>
            <a:ext cx="347472" cy="347472"/>
          </a:xfrm>
          <a:prstGeom prst="ellipse">
            <a:avLst/>
          </a:prstGeom>
          <a:solidFill>
            <a:srgbClr val="0E7C66"/>
          </a:solidFill>
          <a:ln w="12700">
            <a:solidFill>
              <a:srgbClr val="0E7C66"/>
            </a:solidFill>
            <a:prstDash val="solid"/>
          </a:ln>
        </p:spPr>
      </p:sp>
      <p:sp>
        <p:nvSpPr>
          <p:cNvPr id="8" name="Text 6"/>
          <p:cNvSpPr txBox="1"/>
          <p:nvPr/>
        </p:nvSpPr>
        <p:spPr>
          <a:xfrm>
            <a:off x="640080" y="214884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9" name="Text 7"/>
          <p:cNvSpPr txBox="1"/>
          <p:nvPr/>
        </p:nvSpPr>
        <p:spPr>
          <a:xfrm>
            <a:off x="1152144" y="2093976"/>
            <a:ext cx="5486400" cy="292608"/>
          </a:xfrm>
          <a:prstGeom prst="rect">
            <a:avLst/>
          </a:prstGeom>
          <a:noFill/>
          <a:ln/>
        </p:spPr>
        <p:txBody>
          <a:bodyPr wrap="square" lIns="0" tIns="0" rIns="0" bIns="0" rtlCol="0" anchor="ctr"/>
          <a:lstStyle/>
          <a:p>
            <a:pPr marL="0" indent="0">
              <a:buNone/>
            </a:pPr>
            <a:r>
              <a:rPr lang="en-US" sz="1450" b="1" dirty="0">
                <a:solidFill>
                  <a:schemeClr val="tx1"/>
                </a:solidFill>
              </a:rPr>
              <a:t>The whole compiler accepts it</a:t>
            </a:r>
            <a:endParaRPr lang="en-US" sz="1450" dirty="0"/>
          </a:p>
        </p:txBody>
      </p:sp>
      <p:sp>
        <p:nvSpPr>
          <p:cNvPr id="10" name="Text 8"/>
          <p:cNvSpPr txBox="1"/>
          <p:nvPr/>
        </p:nvSpPr>
        <p:spPr>
          <a:xfrm>
            <a:off x="1152144" y="2368296"/>
            <a:ext cx="5760720" cy="292608"/>
          </a:xfrm>
          <a:prstGeom prst="rect">
            <a:avLst/>
          </a:prstGeom>
          <a:noFill/>
          <a:ln/>
        </p:spPr>
        <p:txBody>
          <a:bodyPr wrap="square" lIns="0" tIns="0" rIns="0" bIns="0" rtlCol="0" anchor="ctr"/>
          <a:lstStyle/>
          <a:p>
            <a:pPr marL="0" indent="0">
              <a:buNone/>
            </a:pPr>
            <a:r>
              <a:rPr lang="en-US" sz="1200" dirty="0">
                <a:solidFill>
                  <a:srgbClr val="5A6472"/>
                </a:solidFill>
              </a:rPr>
              <a:t>lexer, parser, semantic, codegen</a:t>
            </a:r>
            <a:endParaRPr lang="en-US" sz="1200" dirty="0"/>
          </a:p>
        </p:txBody>
      </p:sp>
      <p:sp>
        <p:nvSpPr>
          <p:cNvPr id="11" name="tick 2"/>
          <p:cNvSpPr/>
          <p:nvPr/>
        </p:nvSpPr>
        <p:spPr>
          <a:xfrm>
            <a:off x="640080" y="2916936"/>
            <a:ext cx="347472" cy="347472"/>
          </a:xfrm>
          <a:prstGeom prst="ellipse">
            <a:avLst/>
          </a:prstGeom>
          <a:solidFill>
            <a:srgbClr val="0E7C66"/>
          </a:solidFill>
          <a:ln w="12700">
            <a:solidFill>
              <a:srgbClr val="0E7C66"/>
            </a:solidFill>
            <a:prstDash val="solid"/>
          </a:ln>
        </p:spPr>
      </p:sp>
      <p:sp>
        <p:nvSpPr>
          <p:cNvPr id="12" name="Text 10"/>
          <p:cNvSpPr txBox="1"/>
          <p:nvPr/>
        </p:nvSpPr>
        <p:spPr>
          <a:xfrm>
            <a:off x="640080" y="291693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3" name="Text 11"/>
          <p:cNvSpPr txBox="1"/>
          <p:nvPr/>
        </p:nvSpPr>
        <p:spPr>
          <a:xfrm>
            <a:off x="1152144" y="2862072"/>
            <a:ext cx="5486400" cy="292608"/>
          </a:xfrm>
          <a:prstGeom prst="rect">
            <a:avLst/>
          </a:prstGeom>
          <a:noFill/>
          <a:ln/>
        </p:spPr>
        <p:txBody>
          <a:bodyPr wrap="square" lIns="0" tIns="0" rIns="0" bIns="0" rtlCol="0" anchor="ctr"/>
          <a:lstStyle/>
          <a:p>
            <a:pPr marL="0" indent="0">
              <a:buNone/>
            </a:pPr>
            <a:r>
              <a:rPr lang="en-US" sz="1450" b="1" dirty="0">
                <a:solidFill>
                  <a:schemeClr val="tx1"/>
                </a:solidFill>
              </a:rPr>
              <a:t>It is not a pasted answer</a:t>
            </a:r>
            <a:endParaRPr lang="en-US" sz="1450" dirty="0"/>
          </a:p>
        </p:txBody>
      </p:sp>
      <p:sp>
        <p:nvSpPr>
          <p:cNvPr id="14" name="Text 12"/>
          <p:cNvSpPr txBox="1"/>
          <p:nvPr/>
        </p:nvSpPr>
        <p:spPr>
          <a:xfrm>
            <a:off x="1152144" y="3136392"/>
            <a:ext cx="5760720" cy="292608"/>
          </a:xfrm>
          <a:prstGeom prst="rect">
            <a:avLst/>
          </a:prstGeom>
          <a:noFill/>
          <a:ln/>
        </p:spPr>
        <p:txBody>
          <a:bodyPr wrap="square" lIns="0" tIns="0" rIns="0" bIns="0" rtlCol="0" anchor="ctr"/>
          <a:lstStyle/>
          <a:p>
            <a:pPr marL="0" indent="0">
              <a:buNone/>
            </a:pPr>
            <a:r>
              <a:rPr lang="en-US" sz="1200" dirty="0">
                <a:solidFill>
                  <a:srgbClr val="5A6472"/>
                </a:solidFill>
              </a:rPr>
              <a:t>printing a constant instead of computing it is refused</a:t>
            </a:r>
            <a:endParaRPr lang="en-US" sz="1200" dirty="0"/>
          </a:p>
        </p:txBody>
      </p:sp>
      <p:sp>
        <p:nvSpPr>
          <p:cNvPr id="15" name="tick 3"/>
          <p:cNvSpPr/>
          <p:nvPr/>
        </p:nvSpPr>
        <p:spPr>
          <a:xfrm>
            <a:off x="640080" y="3685032"/>
            <a:ext cx="347472" cy="347472"/>
          </a:xfrm>
          <a:prstGeom prst="ellipse">
            <a:avLst/>
          </a:prstGeom>
          <a:solidFill>
            <a:srgbClr val="0E7C66"/>
          </a:solidFill>
          <a:ln w="12700">
            <a:solidFill>
              <a:srgbClr val="0E7C66"/>
            </a:solidFill>
            <a:prstDash val="solid"/>
          </a:ln>
        </p:spPr>
      </p:sp>
      <p:sp>
        <p:nvSpPr>
          <p:cNvPr id="16" name="Text 14"/>
          <p:cNvSpPr txBox="1"/>
          <p:nvPr/>
        </p:nvSpPr>
        <p:spPr>
          <a:xfrm>
            <a:off x="640080" y="368503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7" name="Text 15"/>
          <p:cNvSpPr txBox="1"/>
          <p:nvPr/>
        </p:nvSpPr>
        <p:spPr>
          <a:xfrm>
            <a:off x="1152144" y="3630168"/>
            <a:ext cx="5486400" cy="292608"/>
          </a:xfrm>
          <a:prstGeom prst="rect">
            <a:avLst/>
          </a:prstGeom>
          <a:noFill/>
          <a:ln/>
        </p:spPr>
        <p:txBody>
          <a:bodyPr wrap="square" lIns="0" tIns="0" rIns="0" bIns="0" rtlCol="0" anchor="ctr"/>
          <a:lstStyle/>
          <a:p>
            <a:pPr marL="0" indent="0">
              <a:buNone/>
            </a:pPr>
            <a:r>
              <a:rPr lang="en-US" sz="1450" b="1" dirty="0">
                <a:solidFill>
                  <a:schemeClr val="tx1"/>
                </a:solidFill>
              </a:rPr>
              <a:t>The C builds</a:t>
            </a:r>
            <a:endParaRPr lang="en-US" sz="1450" dirty="0"/>
          </a:p>
        </p:txBody>
      </p:sp>
      <p:sp>
        <p:nvSpPr>
          <p:cNvPr id="18" name="Text 16"/>
          <p:cNvSpPr txBox="1"/>
          <p:nvPr/>
        </p:nvSpPr>
        <p:spPr>
          <a:xfrm>
            <a:off x="1152144" y="3904488"/>
            <a:ext cx="5760720" cy="292608"/>
          </a:xfrm>
          <a:prstGeom prst="rect">
            <a:avLst/>
          </a:prstGeom>
          <a:noFill/>
          <a:ln/>
        </p:spPr>
        <p:txBody>
          <a:bodyPr wrap="square" lIns="0" tIns="0" rIns="0" bIns="0" rtlCol="0" anchor="ctr"/>
          <a:lstStyle/>
          <a:p>
            <a:pPr marL="0" indent="0">
              <a:buNone/>
            </a:pPr>
            <a:r>
              <a:rPr lang="en-US" sz="1200" dirty="0">
                <a:solidFill>
                  <a:srgbClr val="5A6472"/>
                </a:solidFill>
              </a:rPr>
              <a:t>with a real C compiler, not a simulation</a:t>
            </a:r>
            <a:endParaRPr lang="en-US" sz="1200" dirty="0"/>
          </a:p>
        </p:txBody>
      </p:sp>
      <p:sp>
        <p:nvSpPr>
          <p:cNvPr id="19" name="tick 4"/>
          <p:cNvSpPr/>
          <p:nvPr/>
        </p:nvSpPr>
        <p:spPr>
          <a:xfrm>
            <a:off x="640080" y="4453128"/>
            <a:ext cx="347472" cy="347472"/>
          </a:xfrm>
          <a:prstGeom prst="ellipse">
            <a:avLst/>
          </a:prstGeom>
          <a:solidFill>
            <a:srgbClr val="0E7C66"/>
          </a:solidFill>
          <a:ln w="12700">
            <a:solidFill>
              <a:srgbClr val="0E7C66"/>
            </a:solidFill>
            <a:prstDash val="solid"/>
          </a:ln>
        </p:spPr>
      </p:sp>
      <p:sp>
        <p:nvSpPr>
          <p:cNvPr id="20" name="Text 18"/>
          <p:cNvSpPr txBox="1"/>
          <p:nvPr/>
        </p:nvSpPr>
        <p:spPr>
          <a:xfrm>
            <a:off x="640080" y="44531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21" name="Text 19"/>
          <p:cNvSpPr txBox="1"/>
          <p:nvPr/>
        </p:nvSpPr>
        <p:spPr>
          <a:xfrm>
            <a:off x="1152144" y="4398264"/>
            <a:ext cx="5486400" cy="292608"/>
          </a:xfrm>
          <a:prstGeom prst="rect">
            <a:avLst/>
          </a:prstGeom>
          <a:noFill/>
          <a:ln/>
        </p:spPr>
        <p:txBody>
          <a:bodyPr wrap="square" lIns="0" tIns="0" rIns="0" bIns="0" rtlCol="0" anchor="ctr"/>
          <a:lstStyle/>
          <a:p>
            <a:pPr marL="0" indent="0">
              <a:buNone/>
            </a:pPr>
            <a:r>
              <a:rPr lang="en-US" sz="1450" b="1" dirty="0">
                <a:solidFill>
                  <a:schemeClr val="tx1"/>
                </a:solidFill>
              </a:rPr>
              <a:t>Four runs agree, byte for byte</a:t>
            </a:r>
            <a:endParaRPr lang="en-US" sz="1450" dirty="0"/>
          </a:p>
        </p:txBody>
      </p:sp>
      <p:sp>
        <p:nvSpPr>
          <p:cNvPr id="22" name="Text 20"/>
          <p:cNvSpPr txBox="1"/>
          <p:nvPr/>
        </p:nvSpPr>
        <p:spPr>
          <a:xfrm>
            <a:off x="1152144" y="4672584"/>
            <a:ext cx="5760720" cy="292608"/>
          </a:xfrm>
          <a:prstGeom prst="rect">
            <a:avLst/>
          </a:prstGeom>
          <a:noFill/>
          <a:ln/>
        </p:spPr>
        <p:txBody>
          <a:bodyPr wrap="square" lIns="0" tIns="0" rIns="0" bIns="0" rtlCol="0" anchor="ctr"/>
          <a:lstStyle/>
          <a:p>
            <a:pPr marL="0" indent="0">
              <a:buNone/>
            </a:pPr>
            <a:r>
              <a:rPr lang="en-US" sz="1200" dirty="0">
                <a:solidFill>
                  <a:srgbClr val="5A6472"/>
                </a:solidFill>
              </a:rPr>
              <a:t>original, rewrite, and the binary twice</a:t>
            </a:r>
            <a:endParaRPr lang="en-US" sz="1200" dirty="0"/>
          </a:p>
        </p:txBody>
      </p:sp>
      <p:pic>
        <p:nvPicPr>
          <p:cNvPr id="23" name="Image 0" descr="C:\Users\ACER\Desktop\translation-compiler\report_submission\screenshots\gui_10_run_both.png"/>
          <p:cNvPicPr>
            <a:picLocks noChangeAspect="1"/>
          </p:cNvPicPr>
          <p:nvPr/>
        </p:nvPicPr>
        <p:blipFill>
          <a:blip r:embed="rId3"/>
          <a:stretch>
            <a:fillRect/>
          </a:stretch>
        </p:blipFill>
        <p:spPr>
          <a:xfrm>
            <a:off x="7223760" y="1325880"/>
            <a:ext cx="4389120" cy="3108960"/>
          </a:xfrm>
          <a:prstGeom prst="rect">
            <a:avLst/>
          </a:prstGeom>
        </p:spPr>
      </p:pic>
      <p:sp>
        <p:nvSpPr>
          <p:cNvPr id="24" name="Text 21"/>
          <p:cNvSpPr txBox="1"/>
          <p:nvPr/>
        </p:nvSpPr>
        <p:spPr>
          <a:xfrm>
            <a:off x="594360" y="5989320"/>
            <a:ext cx="10972800" cy="411480"/>
          </a:xfrm>
          <a:prstGeom prst="rect">
            <a:avLst/>
          </a:prstGeom>
          <a:noFill/>
          <a:ln/>
        </p:spPr>
        <p:txBody>
          <a:bodyPr wrap="square" lIns="0" tIns="0" rIns="0" bIns="0" rtlCol="0" anchor="ctr"/>
          <a:lstStyle/>
          <a:p>
            <a:pPr marL="0" indent="0">
              <a:buNone/>
            </a:pPr>
            <a:r>
              <a:rPr lang="en-US" sz="1100" i="1" dirty="0">
                <a:solidFill>
                  <a:srgbClr val="5A6472"/>
                </a:solidFill>
              </a:rPr>
              <a:t>Any one of these failing is a refusal, and the original program is left untouched. The third check exists because the prompt shows the model the expected output: a rewrite that prints a figure it never computed is caught and rejected.</a:t>
            </a:r>
            <a:endParaRPr lang="en-US" sz="1100" dirty="0"/>
          </a:p>
        </p:txBody>
      </p:sp>
      <p:sp>
        <p:nvSpPr>
          <p:cNvPr id="25"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26" name="Text 23"/>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Point at the verdict line, then press 'Use this repair' to take it into the editor.</a:t>
            </a:r>
            <a:endParaRPr lang="en-US" sz="1250" dirty="0"/>
          </a:p>
        </p:txBody>
      </p:sp>
      <p:sp>
        <p:nvSpPr>
          <p:cNvPr id="27"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097280"/>
          </a:xfrm>
          <a:prstGeom prst="rect">
            <a:avLst/>
          </a:prstGeom>
          <a:noFill/>
          <a:ln/>
        </p:spPr>
        <p:txBody>
          <a:bodyPr wrap="square" rtlCol="0"/>
          <a:lstStyle/>
          <a:p>
            <a:pPr marL="0" indent="0" algn="l">
              <a:buNone/>
            </a:pPr>
            <a:r>
              <a:rPr lang="en-US" sz="3600" b="1" dirty="0">
                <a:solidFill>
                  <a:schemeClr val="bg1"/>
                </a:solidFill>
              </a:rPr>
              <a:t>Part 3  No key, the last resort, and the limits</a:t>
            </a:r>
            <a:endParaRPr lang="en-US" sz="3600" dirty="0"/>
          </a:p>
        </p:txBody>
      </p:sp>
      <p:sp>
        <p:nvSpPr>
          <p:cNvPr id="3" name="Text 0"/>
          <p:cNvSpPr>
            <a:spLocks noGrp="1"/>
          </p:cNvSpPr>
          <p:nvPr>
            <p:ph type="body" idx="101" hasCustomPrompt="1"/>
          </p:nvPr>
        </p:nvSpPr>
        <p:spPr>
          <a:xfrm>
            <a:off x="822960" y="3566160"/>
            <a:ext cx="10515600" cy="1645920"/>
          </a:xfrm>
          <a:prstGeom prst="rect">
            <a:avLst/>
          </a:prstGeom>
          <a:noFill/>
          <a:ln/>
        </p:spPr>
        <p:txBody>
          <a:bodyPr wrap="square" rtlCol="0"/>
          <a:lstStyle/>
          <a:p>
            <a:pPr marL="0" indent="0" algn="l">
              <a:buNone/>
            </a:pPr>
            <a:r>
              <a:rPr lang="en-US" sz="1600" dirty="0">
                <a:solidFill>
                  <a:srgbClr val="AEBAC6"/>
                </a:solidFill>
              </a:rPr>
              <a:t>Ankur Bhattarai  -  running without an account, converting what cannot be proved, and what we do not claim</a:t>
            </a:r>
            <a:endParaRPr lang="en-US" sz="16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4"/>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The pipeline does not need an API key</a:t>
            </a:r>
            <a:endParaRPr lang="en-US" sz="3000" dirty="0"/>
          </a:p>
        </p:txBody>
      </p:sp>
      <p:pic>
        <p:nvPicPr>
          <p:cNvPr id="3" name="Image 0" descr="C:\Users\ACER\Desktop\translation-compiler\presentation\screenshots\ppt_01_buffer_handoff.png"/>
          <p:cNvPicPr>
            <a:picLocks noChangeAspect="1"/>
          </p:cNvPicPr>
          <p:nvPr/>
        </p:nvPicPr>
        <p:blipFill>
          <a:blip r:embed="rId3"/>
          <a:stretch>
            <a:fillRect/>
          </a:stretch>
        </p:blipFill>
        <p:spPr>
          <a:xfrm>
            <a:off x="594360" y="1280160"/>
            <a:ext cx="6766560" cy="3749040"/>
          </a:xfrm>
          <a:prstGeom prst="rect">
            <a:avLst/>
          </a:prstGeom>
        </p:spPr>
      </p:pic>
      <p:sp>
        <p:nvSpPr>
          <p:cNvPr id="4" name="Text 1"/>
          <p:cNvSpPr txBox="1"/>
          <p:nvPr/>
        </p:nvSpPr>
        <p:spPr>
          <a:xfrm>
            <a:off x="7589520" y="1280160"/>
            <a:ext cx="4023360" cy="448056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250" dirty="0">
                <a:solidFill>
                  <a:schemeClr val="tx1"/>
                </a:solidFill>
              </a:rPr>
              <a:t>Nothing in the repair path cares where a rewrite came from. Every check happens after the answer arrives.</a:t>
            </a:r>
            <a:endParaRPr lang="en-US" sz="1250" dirty="0"/>
          </a:p>
          <a:p>
            <a:pPr marL="342900" indent="-342900">
              <a:lnSpc>
                <a:spcPct val="105000"/>
              </a:lnSpc>
              <a:spcAft>
                <a:spcPts val="900"/>
              </a:spcAft>
              <a:buSzPct val="100000"/>
              <a:buChar char="•"/>
            </a:pPr>
            <a:r>
              <a:rPr lang="en-US" sz="1250" dirty="0">
                <a:solidFill>
                  <a:schemeClr val="tx1"/>
                </a:solidFill>
              </a:rPr>
              <a:t>So the question is written to a file, answered anywhere - by a person, or by an assistant in a terminal - and read back.</a:t>
            </a:r>
            <a:endParaRPr lang="en-US" sz="1250" dirty="0"/>
          </a:p>
          <a:p>
            <a:pPr marL="342900" indent="-342900">
              <a:lnSpc>
                <a:spcPct val="105000"/>
              </a:lnSpc>
              <a:spcAft>
                <a:spcPts val="900"/>
              </a:spcAft>
              <a:buSzPct val="100000"/>
              <a:buChar char="•"/>
            </a:pPr>
            <a:r>
              <a:rPr lang="en-US" sz="1250" dirty="0">
                <a:solidFill>
                  <a:schemeClr val="tx1"/>
                </a:solidFill>
              </a:rPr>
              <a:t>The answer is picked up as soon as it is saved, and then goes through every check unchanged.</a:t>
            </a:r>
            <a:endParaRPr lang="en-US" sz="1250" dirty="0"/>
          </a:p>
          <a:p>
            <a:pPr marL="342900" indent="-342900">
              <a:lnSpc>
                <a:spcPct val="105000"/>
              </a:lnSpc>
              <a:spcAft>
                <a:spcPts val="900"/>
              </a:spcAft>
              <a:buSzPct val="100000"/>
              <a:buChar char="•"/>
            </a:pPr>
            <a:r>
              <a:rPr lang="en-US" sz="1250" dirty="0">
                <a:solidFill>
                  <a:schemeClr val="tx1"/>
                </a:solidFill>
              </a:rPr>
              <a:t>An answer written by hand is refused on exactly the same grounds as a model's. The local route is not a privileged one.</a:t>
            </a:r>
            <a:endParaRPr lang="en-US" sz="1250" dirty="0"/>
          </a:p>
        </p:txBody>
      </p:sp>
      <p:sp>
        <p:nvSpPr>
          <p:cNvPr id="5"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6" name="Text 3"/>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Translate the ursina cube with no credit: the question becomes prompt-1.md on screen.</a:t>
            </a:r>
            <a:endParaRPr lang="en-US" sz="1250" dirty="0"/>
          </a:p>
        </p:txBody>
      </p:sp>
      <p:sp>
        <p:nvSpPr>
          <p:cNvPr id="7" name="Text 4"/>
          <p:cNvSpPr txBox="1"/>
          <p:nvPr/>
        </p:nvSpPr>
        <p:spPr>
          <a:xfrm>
            <a:off x="594360" y="5989320"/>
            <a:ext cx="10972800" cy="411480"/>
          </a:xfrm>
          <a:prstGeom prst="rect">
            <a:avLst/>
          </a:prstGeom>
          <a:noFill/>
          <a:ln/>
        </p:spPr>
        <p:txBody>
          <a:bodyPr wrap="square" lIns="0" tIns="0" rIns="0" bIns="0" rtlCol="0" anchor="ctr"/>
          <a:lstStyle/>
          <a:p>
            <a:pPr marL="0" indent="0">
              <a:buNone/>
            </a:pPr>
            <a:r>
              <a:rPr lang="en-US" sz="1100" i="1" dirty="0">
                <a:solidFill>
                  <a:srgbClr val="5A6472"/>
                </a:solidFill>
              </a:rPr>
              <a:t>The handoff: no model was reached, so the compiler writes the question it would have sent.</a:t>
            </a:r>
            <a:endParaRPr lang="en-US" sz="11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The last stage  convert what cannot be proved</a:t>
            </a:r>
            <a:endParaRPr lang="en-US" sz="3000" dirty="0"/>
          </a:p>
        </p:txBody>
      </p:sp>
      <p:pic>
        <p:nvPicPr>
          <p:cNvPr id="3" name="Image 0" descr="C:\Users\ACER\Desktop\translation-compiler\presentation\screenshots\ppt_02_converted_verdict.png"/>
          <p:cNvPicPr>
            <a:picLocks noChangeAspect="1"/>
          </p:cNvPicPr>
          <p:nvPr/>
        </p:nvPicPr>
        <p:blipFill>
          <a:blip r:embed="rId3"/>
          <a:stretch>
            <a:fillRect/>
          </a:stretch>
        </p:blipFill>
        <p:spPr>
          <a:xfrm>
            <a:off x="594360" y="1280160"/>
            <a:ext cx="6766560" cy="3749040"/>
          </a:xfrm>
          <a:prstGeom prst="rect">
            <a:avLst/>
          </a:prstGeom>
        </p:spPr>
      </p:pic>
      <p:sp>
        <p:nvSpPr>
          <p:cNvPr id="4" name="Text 1"/>
          <p:cNvSpPr txBox="1"/>
          <p:nvPr/>
        </p:nvSpPr>
        <p:spPr>
          <a:xfrm>
            <a:off x="7589520" y="1280160"/>
            <a:ext cx="4023360" cy="448056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250" dirty="0">
                <a:solidFill>
                  <a:schemeClr val="tx1"/>
                </a:solidFill>
              </a:rPr>
              <a:t>A program whose behaviour is a window has no output, so byte comparison has nothing to work with.</a:t>
            </a:r>
            <a:endParaRPr lang="en-US" sz="1250" dirty="0"/>
          </a:p>
          <a:p>
            <a:pPr marL="342900" indent="-342900">
              <a:lnSpc>
                <a:spcPct val="105000"/>
              </a:lnSpc>
              <a:spcAft>
                <a:spcPts val="900"/>
              </a:spcAft>
              <a:buSzPct val="100000"/>
              <a:buChar char="•"/>
            </a:pPr>
            <a:r>
              <a:rPr lang="en-US" sz="1250" dirty="0">
                <a:solidFill>
                  <a:schemeClr val="tx1"/>
                </a:solidFill>
              </a:rPr>
              <a:t>Refusing to act left such a program untranslated, which helped nobody.</a:t>
            </a:r>
            <a:endParaRPr lang="en-US" sz="1250" dirty="0"/>
          </a:p>
          <a:p>
            <a:pPr marL="342900" indent="-342900">
              <a:lnSpc>
                <a:spcPct val="105000"/>
              </a:lnSpc>
              <a:spcAft>
                <a:spcPts val="900"/>
              </a:spcAft>
              <a:buSzPct val="100000"/>
              <a:buChar char="•"/>
            </a:pPr>
            <a:r>
              <a:rPr lang="en-US" sz="1250" dirty="0">
                <a:solidFill>
                  <a:schemeClr val="tx1"/>
                </a:solidFill>
              </a:rPr>
              <a:t>So a final stage converts it and reports only what it established: it compiles, it builds and links, it starts and stays up.</a:t>
            </a:r>
            <a:endParaRPr lang="en-US" sz="1250" dirty="0"/>
          </a:p>
          <a:p>
            <a:pPr marL="342900" indent="-342900">
              <a:lnSpc>
                <a:spcPct val="105000"/>
              </a:lnSpc>
              <a:spcAft>
                <a:spcPts val="900"/>
              </a:spcAft>
              <a:buSzPct val="100000"/>
              <a:buChar char="•"/>
            </a:pPr>
            <a:r>
              <a:rPr lang="en-US" sz="1250" dirty="0">
                <a:solidFill>
                  <a:schemeClr val="tx1"/>
                </a:solidFill>
              </a:rPr>
              <a:t>It never reports 'verified'. A test asserts the word never appears alone in this report.</a:t>
            </a:r>
            <a:endParaRPr lang="en-US" sz="1250" dirty="0"/>
          </a:p>
        </p:txBody>
      </p:sp>
      <p:sp>
        <p:nvSpPr>
          <p:cNvPr id="5"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6" name="Text 3"/>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Let the conversion finish and read the proof list out loud.</a:t>
            </a:r>
            <a:endParaRPr lang="en-US" sz="1250" dirty="0"/>
          </a:p>
        </p:txBody>
      </p:sp>
      <p:sp>
        <p:nvSpPr>
          <p:cNvPr id="7" name="Text 4"/>
          <p:cNvSpPr txBox="1"/>
          <p:nvPr/>
        </p:nvSpPr>
        <p:spPr>
          <a:xfrm>
            <a:off x="594360" y="5989320"/>
            <a:ext cx="10972800" cy="411480"/>
          </a:xfrm>
          <a:prstGeom prst="rect">
            <a:avLst/>
          </a:prstGeom>
          <a:noFill/>
          <a:ln/>
        </p:spPr>
        <p:txBody>
          <a:bodyPr wrap="square" lIns="0" tIns="0" rIns="0" bIns="0" rtlCol="0" anchor="ctr"/>
          <a:lstStyle/>
          <a:p>
            <a:pPr marL="0" indent="0">
              <a:buNone/>
            </a:pPr>
            <a:r>
              <a:rPr lang="en-US" sz="1100" i="1" dirty="0">
                <a:solidFill>
                  <a:srgbClr val="5A6472"/>
                </a:solidFill>
              </a:rPr>
              <a:t>CONVERTED, NOT VERIFIED - with what was established, and what was not, side by side.</a:t>
            </a:r>
            <a:endParaRPr lang="en-US" sz="11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The payoff  an ursina program, running as native C</a:t>
            </a:r>
            <a:endParaRPr lang="en-US" sz="3000" dirty="0"/>
          </a:p>
        </p:txBody>
      </p:sp>
      <p:pic>
        <p:nvPicPr>
          <p:cNvPr id="3" name="Image 0" descr="C:\Users\ACER\Desktop\translation-compiler\presentation\screenshots\ppt_03_triple_cube.png"/>
          <p:cNvPicPr>
            <a:picLocks noChangeAspect="1"/>
          </p:cNvPicPr>
          <p:nvPr/>
        </p:nvPicPr>
        <p:blipFill>
          <a:blip r:embed="rId3"/>
          <a:stretch>
            <a:fillRect/>
          </a:stretch>
        </p:blipFill>
        <p:spPr>
          <a:xfrm>
            <a:off x="3200400" y="1234440"/>
            <a:ext cx="5852160" cy="3840480"/>
          </a:xfrm>
          <a:prstGeom prst="rect">
            <a:avLst/>
          </a:prstGeom>
        </p:spPr>
      </p:pic>
      <p:sp>
        <p:nvSpPr>
          <p:cNvPr id="4" name="Text 1"/>
          <p:cNvSpPr txBox="1"/>
          <p:nvPr/>
        </p:nvSpPr>
        <p:spPr>
          <a:xfrm>
            <a:off x="594360" y="1371600"/>
            <a:ext cx="2423160" cy="3566160"/>
          </a:xfrm>
          <a:prstGeom prst="rect">
            <a:avLst/>
          </a:prstGeom>
          <a:noFill/>
          <a:ln/>
        </p:spPr>
        <p:txBody>
          <a:bodyPr wrap="square" lIns="0" tIns="0" rIns="0" bIns="0" rtlCol="0" anchor="ctr"/>
          <a:lstStyle/>
          <a:p>
            <a:pPr marL="0" indent="0">
              <a:buNone/>
            </a:pPr>
            <a:r>
              <a:rPr lang="en-US" sz="1500" b="1" dirty="0">
                <a:solidFill>
                  <a:srgbClr val="14181F"/>
                </a:solidFill>
              </a:rPr>
              <a:t>Three Rubik's cubes
</a:t>
            </a:r>
            <a:endParaRPr lang="en-US" sz="1500" dirty="0"/>
          </a:p>
          <a:p>
            <a:pPr marL="0" indent="0">
              <a:buNone/>
            </a:pPr>
            <a:r>
              <a:rPr lang="en-US" sz="1250" dirty="0">
                <a:solidFill>
                  <a:srgbClr val="3A4450"/>
                </a:solidFill>
              </a:rPr>
              <a:t>The original imports ursina and is refused outright. The conversion draws through gfx, our own window shim, whose API is nothing but numbers.
</a:t>
            </a:r>
            <a:endParaRPr lang="en-US" sz="1500" dirty="0"/>
          </a:p>
          <a:p>
            <a:pPr marL="0" indent="0">
              <a:buNone/>
            </a:pPr>
            <a:r>
              <a:rPr lang="en-US" sz="2000" b="1" dirty="0">
                <a:solidFill>
                  <a:srgbClr val="0E7C66"/>
                </a:solidFill>
              </a:rPr>
              <a:t>290,248 bytes
</a:t>
            </a:r>
            <a:endParaRPr lang="en-US" sz="1500" dirty="0"/>
          </a:p>
          <a:p>
            <a:pPr marL="0" indent="0">
              <a:buNone/>
            </a:pPr>
            <a:r>
              <a:rPr lang="en-US" sz="1150" dirty="0">
                <a:solidFill>
                  <a:srgbClr val="5A6472"/>
                </a:solidFill>
              </a:rPr>
              <a:t>of native executable, no Python underneath</a:t>
            </a:r>
            <a:endParaRPr lang="en-US" sz="1500" dirty="0"/>
          </a:p>
        </p:txBody>
      </p:sp>
      <p:sp>
        <p:nvSpPr>
          <p:cNvPr id="5" name="Text 2"/>
          <p:cNvSpPr txBox="1"/>
          <p:nvPr/>
        </p:nvSpPr>
        <p:spPr>
          <a:xfrm>
            <a:off x="9235440" y="1463040"/>
            <a:ext cx="2377440" cy="2377440"/>
          </a:xfrm>
          <a:prstGeom prst="rect">
            <a:avLst/>
          </a:prstGeom>
          <a:noFill/>
          <a:ln/>
        </p:spPr>
        <p:txBody>
          <a:bodyPr wrap="square" lIns="0" tIns="0" rIns="0" bIns="0" rtlCol="0" anchor="ctr"/>
          <a:lstStyle/>
          <a:p>
            <a:pPr marL="0" indent="0">
              <a:lnSpc>
                <a:spcPct val="125000"/>
              </a:lnSpc>
              <a:buNone/>
            </a:pPr>
            <a:r>
              <a:rPr lang="en-US" sz="1200" dirty="0">
                <a:solidFill>
                  <a:srgbClr val="3A4450"/>
                </a:solidFill>
                <a:latin typeface="Courier New" pitchFamily="34" charset="0"/>
                <a:ea typeface="Courier New" pitchFamily="34" charset="-122"/>
                <a:cs typeface="Courier New" pitchFamily="34" charset="-120"/>
              </a:rPr>
              <a:t>1 2 3  select a cube
</a:t>
            </a:r>
            <a:endParaRPr lang="en-US" sz="1200" dirty="0"/>
          </a:p>
          <a:p>
            <a:pPr marL="0" indent="0">
              <a:lnSpc>
                <a:spcPct val="125000"/>
              </a:lnSpc>
              <a:buNone/>
            </a:pPr>
            <a:r>
              <a:rPr lang="en-US" sz="1200" dirty="0">
                <a:solidFill>
                  <a:srgbClr val="3A4450"/>
                </a:solidFill>
                <a:latin typeface="Courier New" pitchFamily="34" charset="0"/>
                <a:ea typeface="Courier New" pitchFamily="34" charset="-122"/>
                <a:cs typeface="Courier New" pitchFamily="34" charset="-120"/>
              </a:rPr>
              <a:t>U D F B R L  turn a face
</a:t>
            </a:r>
            <a:endParaRPr lang="en-US" sz="1200" dirty="0"/>
          </a:p>
          <a:p>
            <a:pPr marL="0" indent="0">
              <a:lnSpc>
                <a:spcPct val="125000"/>
              </a:lnSpc>
              <a:buNone/>
            </a:pPr>
            <a:r>
              <a:rPr lang="en-US" sz="1200" dirty="0">
                <a:solidFill>
                  <a:srgbClr val="3A4450"/>
                </a:solidFill>
                <a:latin typeface="Courier New" pitchFamily="34" charset="0"/>
                <a:ea typeface="Courier New" pitchFamily="34" charset="-122"/>
                <a:cs typeface="Courier New" pitchFamily="34" charset="-120"/>
              </a:rPr>
              <a:t>SHIFT  reverse the turn
</a:t>
            </a:r>
            <a:endParaRPr lang="en-US" sz="1200" dirty="0"/>
          </a:p>
          <a:p>
            <a:pPr marL="0" indent="0">
              <a:lnSpc>
                <a:spcPct val="125000"/>
              </a:lnSpc>
              <a:buNone/>
            </a:pPr>
            <a:r>
              <a:rPr lang="en-US" sz="1200" dirty="0">
                <a:solidFill>
                  <a:srgbClr val="3A4450"/>
                </a:solidFill>
                <a:latin typeface="Courier New" pitchFamily="34" charset="0"/>
                <a:ea typeface="Courier New" pitchFamily="34" charset="-122"/>
                <a:cs typeface="Courier New" pitchFamily="34" charset="-120"/>
              </a:rPr>
              <a:t>S scramble   X reset
</a:t>
            </a:r>
            <a:endParaRPr lang="en-US" sz="1200" dirty="0"/>
          </a:p>
          <a:p>
            <a:pPr marL="0" indent="0">
              <a:lnSpc>
                <a:spcPct val="125000"/>
              </a:lnSpc>
              <a:buNone/>
            </a:pPr>
            <a:r>
              <a:rPr lang="en-US" sz="1200" dirty="0">
                <a:solidFill>
                  <a:srgbClr val="3A4450"/>
                </a:solidFill>
                <a:latin typeface="Courier New" pitchFamily="34" charset="0"/>
                <a:ea typeface="Courier New" pitchFamily="34" charset="-122"/>
                <a:cs typeface="Courier New" pitchFamily="34" charset="-120"/>
              </a:rPr>
              <a:t>SPACE  scramble all three</a:t>
            </a:r>
            <a:endParaRPr lang="en-US" sz="1200" dirty="0"/>
          </a:p>
        </p:txBody>
      </p:sp>
      <p:sp>
        <p:nvSpPr>
          <p:cNvPr id="6"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7" name="Text 4"/>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Run it. Select a cube, turn a face, scramble. Bright grout = selected, green = solved.</a:t>
            </a:r>
            <a:endParaRPr lang="en-US" sz="12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Where AI is used, why, and what bounds it</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94360" y="1325880"/>
          <a:ext cx="10972800" cy="2179320"/>
        </p:xfrm>
        <a:graphic>
          <a:graphicData uri="http://schemas.openxmlformats.org/drawingml/2006/table">
            <a:tbl>
              <a:tblPr/>
              <a:tblGrid>
                <a:gridCol w="2286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11480">
                <a:tc>
                  <a:txBody>
                    <a:bodyPr/>
                    <a:lstStyle/>
                    <a:p>
                      <a:pPr marL="0" indent="0">
                        <a:buNone/>
                      </a:pPr>
                      <a:r>
                        <a:rPr lang="en-US" sz="1150" b="1" dirty="0">
                          <a:solidFill>
                            <a:srgbClr val="FFFFFF"/>
                          </a:solidFill>
                        </a:rPr>
                        <a:t>Where</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232A34"/>
                    </a:solidFill>
                  </a:tcPr>
                </a:tc>
                <a:tc>
                  <a:txBody>
                    <a:bodyPr/>
                    <a:lstStyle/>
                    <a:p>
                      <a:pPr marL="0" indent="0">
                        <a:buNone/>
                      </a:pPr>
                      <a:r>
                        <a:rPr lang="en-US" sz="1150" b="1" dirty="0">
                          <a:solidFill>
                            <a:srgbClr val="FFFFFF"/>
                          </a:solidFill>
                        </a:rPr>
                        <a:t>Why it is used</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232A34"/>
                    </a:solidFill>
                  </a:tcPr>
                </a:tc>
                <a:tc>
                  <a:txBody>
                    <a:bodyPr/>
                    <a:lstStyle/>
                    <a:p>
                      <a:pPr marL="0" indent="0">
                        <a:buNone/>
                      </a:pPr>
                      <a:r>
                        <a:rPr lang="en-US" sz="1150" b="1" dirty="0">
                          <a:solidFill>
                            <a:srgbClr val="FFFFFF"/>
                          </a:solidFill>
                        </a:rPr>
                        <a:t>What can refuse it</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232A34"/>
                    </a:solidFill>
                  </a:tcPr>
                </a:tc>
                <a:extLst>
                  <a:ext uri="{0D108BD9-81ED-4DB2-BD59-A6C34878D82A}">
                    <a16:rowId xmlns:a16="http://schemas.microsoft.com/office/drawing/2014/main" val="10000"/>
                  </a:ext>
                </a:extLst>
              </a:tr>
              <a:tr h="411480">
                <a:tc>
                  <a:txBody>
                    <a:bodyPr/>
                    <a:lstStyle/>
                    <a:p>
                      <a:pPr marL="0" indent="0">
                        <a:buNone/>
                      </a:pPr>
                      <a:r>
                        <a:rPr lang="en-US" sz="1150" dirty="0">
                          <a:solidFill>
                            <a:srgbClr val="232A34"/>
                          </a:solidFill>
                        </a:rPr>
                        <a:t>Gate</a:t>
                      </a:r>
                      <a:endParaRPr lang="en-US" sz="1150" dirty="0"/>
                    </a:p>
                    <a:p>
                      <a:pPr marL="0" indent="0">
                        <a:buNone/>
                      </a:pPr>
                      <a:r>
                        <a:rPr lang="en-US" sz="1150" dirty="0">
                          <a:solidFill>
                            <a:srgbClr val="232A34"/>
                          </a:solidFill>
                        </a:rPr>
                        <a:t>one C expression</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FFFFFF"/>
                    </a:solidFill>
                  </a:tcPr>
                </a:tc>
                <a:tc>
                  <a:txBody>
                    <a:bodyPr/>
                    <a:lstStyle/>
                    <a:p>
                      <a:pPr marL="0" indent="0">
                        <a:buNone/>
                      </a:pPr>
                      <a:r>
                        <a:rPr lang="en-US" sz="1150" dirty="0">
                          <a:solidFill>
                            <a:srgbClr val="232A34"/>
                          </a:solidFill>
                        </a:rPr>
                        <a:t>A call the compiler has no rule for. Writing a rule for every maths function is not the point of the project.</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FFFFFF"/>
                    </a:solidFill>
                  </a:tcPr>
                </a:tc>
                <a:tc>
                  <a:txBody>
                    <a:bodyPr/>
                    <a:lstStyle/>
                    <a:p>
                      <a:pPr marL="0" indent="0">
                        <a:buNone/>
                      </a:pPr>
                      <a:r>
                        <a:rPr lang="en-US" sz="1150" dirty="0">
                          <a:solidFill>
                            <a:srgbClr val="232A34"/>
                          </a:solidFill>
                        </a:rPr>
                        <a:t>Whitelist, then a real C compiler. Cached, so it is asked once.</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150" dirty="0">
                          <a:solidFill>
                            <a:srgbClr val="232A34"/>
                          </a:solidFill>
                        </a:rPr>
                        <a:t>Simplify</a:t>
                      </a:r>
                      <a:endParaRPr lang="en-US" sz="1150" dirty="0"/>
                    </a:p>
                    <a:p>
                      <a:pPr marL="0" indent="0">
                        <a:buNone/>
                      </a:pPr>
                      <a:r>
                        <a:rPr lang="en-US" sz="1150" dirty="0">
                          <a:solidFill>
                            <a:srgbClr val="232A34"/>
                          </a:solidFill>
                        </a:rPr>
                        <a:t>tidier C</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FFFFFF"/>
                    </a:solidFill>
                  </a:tcPr>
                </a:tc>
                <a:tc>
                  <a:txBody>
                    <a:bodyPr/>
                    <a:lstStyle/>
                    <a:p>
                      <a:pPr marL="0" indent="0">
                        <a:buNone/>
                      </a:pPr>
                      <a:r>
                        <a:rPr lang="en-US" sz="1150" dirty="0">
                          <a:solidFill>
                            <a:srgbClr val="232A34"/>
                          </a:solidFill>
                        </a:rPr>
                        <a:t>The emitted C is correct but verbose. A tidier version is a nicety, never a requirement.</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FFFFFF"/>
                    </a:solidFill>
                  </a:tcPr>
                </a:tc>
                <a:tc>
                  <a:txBody>
                    <a:bodyPr/>
                    <a:lstStyle/>
                    <a:p>
                      <a:pPr marL="0" indent="0">
                        <a:buNone/>
                      </a:pPr>
                      <a:r>
                        <a:rPr lang="en-US" sz="1150" dirty="0">
                          <a:solidFill>
                            <a:srgbClr val="232A34"/>
                          </a:solidFill>
                        </a:rPr>
                        <a:t>Both binaries are built and run; the outputs must match.</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150" dirty="0">
                          <a:solidFill>
                            <a:srgbClr val="232A34"/>
                          </a:solidFill>
                        </a:rPr>
                        <a:t>Repair</a:t>
                      </a:r>
                      <a:endParaRPr lang="en-US" sz="1150" dirty="0"/>
                    </a:p>
                    <a:p>
                      <a:pPr marL="0" indent="0">
                        <a:buNone/>
                      </a:pPr>
                      <a:r>
                        <a:rPr lang="en-US" sz="1150" dirty="0">
                          <a:solidFill>
                            <a:srgbClr val="232A34"/>
                          </a:solidFill>
                        </a:rPr>
                        <a:t>whole program</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FFFFFF"/>
                    </a:solidFill>
                  </a:tcPr>
                </a:tc>
                <a:tc>
                  <a:txBody>
                    <a:bodyPr/>
                    <a:lstStyle/>
                    <a:p>
                      <a:pPr marL="0" indent="0">
                        <a:buNone/>
                      </a:pPr>
                      <a:r>
                        <a:rPr lang="en-US" sz="1150" dirty="0">
                          <a:solidFill>
                            <a:srgbClr val="232A34"/>
                          </a:solidFill>
                        </a:rPr>
                        <a:t>The program is outside the subset entirely, so there is nothing to patch - it has to be rewritten.</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FFFFFF"/>
                    </a:solidFill>
                  </a:tcPr>
                </a:tc>
                <a:tc>
                  <a:txBody>
                    <a:bodyPr/>
                    <a:lstStyle/>
                    <a:p>
                      <a:pPr marL="0" indent="0">
                        <a:buNone/>
                      </a:pPr>
                      <a:r>
                        <a:rPr lang="en-US" sz="1150" dirty="0">
                          <a:solidFill>
                            <a:srgbClr val="232A34"/>
                          </a:solidFill>
                        </a:rPr>
                        <a:t>The whole compiler, the shortcut check, and four compared runs.</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150" dirty="0">
                          <a:solidFill>
                            <a:srgbClr val="232A34"/>
                          </a:solidFill>
                        </a:rPr>
                        <a:t>Port</a:t>
                      </a:r>
                      <a:endParaRPr lang="en-US" sz="1150" dirty="0"/>
                    </a:p>
                    <a:p>
                      <a:pPr marL="0" indent="0">
                        <a:buNone/>
                      </a:pPr>
                      <a:r>
                        <a:rPr lang="en-US" sz="1150" dirty="0">
                          <a:solidFill>
                            <a:srgbClr val="232A34"/>
                          </a:solidFill>
                        </a:rPr>
                        <a:t>last resort</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FFFFFF"/>
                    </a:solidFill>
                  </a:tcPr>
                </a:tc>
                <a:tc>
                  <a:txBody>
                    <a:bodyPr/>
                    <a:lstStyle/>
                    <a:p>
                      <a:pPr marL="0" indent="0">
                        <a:buNone/>
                      </a:pPr>
                      <a:r>
                        <a:rPr lang="en-US" sz="1150" dirty="0">
                          <a:solidFill>
                            <a:srgbClr val="232A34"/>
                          </a:solidFill>
                        </a:rPr>
                        <a:t>The program's behaviour is a window, so no comparison exists. Without this it stays untranslated.</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FFFFFF"/>
                    </a:solidFill>
                  </a:tcPr>
                </a:tc>
                <a:tc>
                  <a:txBody>
                    <a:bodyPr/>
                    <a:lstStyle/>
                    <a:p>
                      <a:pPr marL="0" indent="0">
                        <a:buNone/>
                      </a:pPr>
                      <a:r>
                        <a:rPr lang="en-US" sz="1150" dirty="0">
                          <a:solidFill>
                            <a:srgbClr val="232A34"/>
                          </a:solidFill>
                        </a:rPr>
                        <a:t>Compiler, build and start only - and it says so, in those words.</a:t>
                      </a:r>
                      <a:endParaRPr lang="en-US" sz="1150" dirty="0"/>
                    </a:p>
                  </a:txBody>
                  <a:tcPr>
                    <a:lnL w="12700" cap="flat" cmpd="sng" algn="ctr">
                      <a:solidFill>
                        <a:srgbClr val="DCE3E9"/>
                      </a:solidFill>
                      <a:prstDash val="solid"/>
                      <a:round/>
                      <a:headEnd type="none" w="med" len="med"/>
                      <a:tailEnd type="none" w="med" len="med"/>
                    </a:lnL>
                    <a:lnR w="12700" cap="flat" cmpd="sng" algn="ctr">
                      <a:solidFill>
                        <a:srgbClr val="DCE3E9"/>
                      </a:solidFill>
                      <a:prstDash val="solid"/>
                      <a:round/>
                      <a:headEnd type="none" w="med" len="med"/>
                      <a:tailEnd type="none" w="med" len="med"/>
                    </a:lnR>
                    <a:lnT w="12700" cap="flat" cmpd="sng" algn="ctr">
                      <a:solidFill>
                        <a:srgbClr val="DCE3E9"/>
                      </a:solidFill>
                      <a:prstDash val="solid"/>
                      <a:round/>
                      <a:headEnd type="none" w="med" len="med"/>
                      <a:tailEnd type="none" w="med" len="med"/>
                    </a:lnT>
                    <a:lnB w="12700" cap="flat" cmpd="sng" algn="ctr">
                      <a:solidFill>
                        <a:srgbClr val="DCE3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he pattern"/>
          <p:cNvSpPr/>
          <p:nvPr/>
        </p:nvSpPr>
        <p:spPr>
          <a:xfrm>
            <a:off x="594360" y="3977640"/>
            <a:ext cx="10972800" cy="1188720"/>
          </a:xfrm>
          <a:prstGeom prst="roundRect">
            <a:avLst>
              <a:gd name="adj" fmla="val 7692"/>
            </a:avLst>
          </a:prstGeom>
          <a:solidFill>
            <a:srgbClr val="E7F1EE"/>
          </a:solidFill>
          <a:ln w="12700">
            <a:solidFill>
              <a:srgbClr val="BFD9D2"/>
            </a:solidFill>
            <a:prstDash val="solid"/>
          </a:ln>
        </p:spPr>
      </p:sp>
      <p:sp>
        <p:nvSpPr>
          <p:cNvPr id="5" name="Text 2"/>
          <p:cNvSpPr txBox="1"/>
          <p:nvPr/>
        </p:nvSpPr>
        <p:spPr>
          <a:xfrm>
            <a:off x="868680" y="4160520"/>
            <a:ext cx="10424160" cy="868680"/>
          </a:xfrm>
          <a:prstGeom prst="rect">
            <a:avLst/>
          </a:prstGeom>
          <a:noFill/>
          <a:ln/>
        </p:spPr>
        <p:txBody>
          <a:bodyPr wrap="square" lIns="0" tIns="0" rIns="0" bIns="0" rtlCol="0" anchor="ctr"/>
          <a:lstStyle/>
          <a:p>
            <a:pPr marL="0" indent="0">
              <a:buNone/>
            </a:pPr>
            <a:r>
              <a:rPr lang="en-US" sz="1500" b="1" dirty="0">
                <a:solidFill>
                  <a:srgbClr val="0E7C66"/>
                </a:solidFill>
              </a:rPr>
              <a:t>In all four, the AI proposes and something deterministic disposes.
</a:t>
            </a:r>
            <a:endParaRPr lang="en-US" sz="1500" dirty="0"/>
          </a:p>
          <a:p>
            <a:pPr marL="0" indent="0">
              <a:buNone/>
            </a:pPr>
            <a:r>
              <a:rPr lang="en-US" sz="1250" dirty="0">
                <a:solidFill>
                  <a:srgbClr val="2C4A43"/>
                </a:solidFill>
              </a:rPr>
              <a:t>The model is never the thing that decides. It writes text; a whitelist, a C compiler or a byte comparison decides whether that text becomes part of the program.</a:t>
            </a:r>
            <a:endParaRPr lang="en-US" sz="1500" dirty="0"/>
          </a:p>
        </p:txBody>
      </p:sp>
      <p:sp>
        <p:nvSpPr>
          <p:cNvPr id="6"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7" name="Text 4"/>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Nothing to run here - this is the slide to pause on and answer questions from.</a:t>
            </a:r>
            <a:endParaRPr lang="en-US" sz="12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What we do not claim</a:t>
            </a:r>
            <a:endParaRPr lang="en-US" sz="3000" dirty="0"/>
          </a:p>
        </p:txBody>
      </p:sp>
      <p:sp>
        <p:nvSpPr>
          <p:cNvPr id="3" name="Text 1"/>
          <p:cNvSpPr txBox="1"/>
          <p:nvPr/>
        </p:nvSpPr>
        <p:spPr>
          <a:xfrm>
            <a:off x="594360" y="1325880"/>
            <a:ext cx="6675120" cy="420624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350" dirty="0">
                <a:solidFill>
                  <a:schemeClr val="tx1"/>
                </a:solidFill>
              </a:rPr>
              <a:t>A conversion is not a proof. The port stage checks that a program compiles, builds and runs - never that it behaves like the original.</a:t>
            </a:r>
            <a:endParaRPr lang="en-US" sz="1350" dirty="0"/>
          </a:p>
          <a:p>
            <a:pPr marL="342900" indent="-342900">
              <a:lnSpc>
                <a:spcPct val="105000"/>
              </a:lnSpc>
              <a:spcAft>
                <a:spcPts val="900"/>
              </a:spcAft>
              <a:buSzPct val="100000"/>
              <a:buChar char="•"/>
            </a:pPr>
            <a:r>
              <a:rPr lang="en-US" sz="1350" dirty="0">
                <a:solidFill>
                  <a:schemeClr val="tx1"/>
                </a:solidFill>
              </a:rPr>
              <a:t>Integer width. A constant too large for 64 bits is now refused with a diagnostic, but a value only reached at run time still wraps.</a:t>
            </a:r>
            <a:endParaRPr lang="en-US" sz="1350" dirty="0"/>
          </a:p>
          <a:p>
            <a:pPr marL="342900" indent="-342900">
              <a:lnSpc>
                <a:spcPct val="105000"/>
              </a:lnSpc>
              <a:spcAft>
                <a:spcPts val="900"/>
              </a:spcAft>
              <a:buSzPct val="100000"/>
              <a:buChar char="•"/>
            </a:pPr>
            <a:r>
              <a:rPr lang="en-US" sz="1350" dirty="0">
                <a:solidFill>
                  <a:schemeClr val="tx1"/>
                </a:solidFill>
              </a:rPr>
              <a:t>Repair only runs on a program the compiler refused. A program that compiles and prints a wrong answer never reaches it.</a:t>
            </a:r>
            <a:endParaRPr lang="en-US" sz="1350" dirty="0"/>
          </a:p>
          <a:p>
            <a:pPr marL="342900" indent="-342900">
              <a:lnSpc>
                <a:spcPct val="105000"/>
              </a:lnSpc>
              <a:spcAft>
                <a:spcPts val="900"/>
              </a:spcAft>
              <a:buSzPct val="100000"/>
              <a:buChar char="•"/>
            </a:pPr>
            <a:r>
              <a:rPr lang="en-US" sz="1350" dirty="0">
                <a:solidFill>
                  <a:schemeClr val="tx1"/>
                </a:solidFill>
              </a:rPr>
              <a:t>Two refusals are facts about the program, not weaknesses: a program that never finishes has no finite output, and one that disagrees with itself has no fixed output.</a:t>
            </a:r>
            <a:endParaRPr lang="en-US" sz="1350" dirty="0"/>
          </a:p>
          <a:p>
            <a:pPr marL="342900" indent="-342900">
              <a:lnSpc>
                <a:spcPct val="105000"/>
              </a:lnSpc>
              <a:spcAft>
                <a:spcPts val="900"/>
              </a:spcAft>
              <a:buSzPct val="100000"/>
              <a:buChar char="•"/>
            </a:pPr>
            <a:r>
              <a:rPr lang="en-US" sz="1350" dirty="0">
                <a:solidFill>
                  <a:schemeClr val="tx1"/>
                </a:solidFill>
              </a:rPr>
              <a:t>The landing rate is measured, not asserted - and the measurement needs an account, so the number we quote is the last complete run.</a:t>
            </a:r>
            <a:endParaRPr lang="en-US" sz="1350" dirty="0"/>
          </a:p>
        </p:txBody>
      </p:sp>
      <p:pic>
        <p:nvPicPr>
          <p:cNvPr id="4" name="Image 0" descr="C:\Users\ACER\Desktop\translation-compiler\presentation\screenshots\ppt_04_int64_refused.png"/>
          <p:cNvPicPr>
            <a:picLocks noChangeAspect="1"/>
          </p:cNvPicPr>
          <p:nvPr/>
        </p:nvPicPr>
        <p:blipFill>
          <a:blip r:embed="rId3"/>
          <a:stretch>
            <a:fillRect/>
          </a:stretch>
        </p:blipFill>
        <p:spPr>
          <a:xfrm>
            <a:off x="7452360" y="1371600"/>
            <a:ext cx="4114800" cy="2651760"/>
          </a:xfrm>
          <a:prstGeom prst="rect">
            <a:avLst/>
          </a:prstGeom>
        </p:spPr>
      </p:pic>
      <p:sp>
        <p:nvSpPr>
          <p:cNvPr id="5" name="Text 2"/>
          <p:cNvSpPr txBox="1"/>
          <p:nvPr/>
        </p:nvSpPr>
        <p:spPr>
          <a:xfrm>
            <a:off x="594360" y="5989320"/>
            <a:ext cx="10972800" cy="411480"/>
          </a:xfrm>
          <a:prstGeom prst="rect">
            <a:avLst/>
          </a:prstGeom>
          <a:noFill/>
          <a:ln/>
        </p:spPr>
        <p:txBody>
          <a:bodyPr wrap="square" lIns="0" tIns="0" rIns="0" bIns="0" rtlCol="0" anchor="ctr"/>
          <a:lstStyle/>
          <a:p>
            <a:pPr marL="0" indent="0">
              <a:buNone/>
            </a:pPr>
            <a:r>
              <a:rPr lang="en-US" sz="1100" i="1" dirty="0">
                <a:solidFill>
                  <a:srgbClr val="5A6472"/>
                </a:solidFill>
              </a:rPr>
              <a:t>2 ** 100 used to compile and print 0. It is now a diagnostic that names the value - which is also what lets repair act on it.</a:t>
            </a:r>
            <a:endParaRPr lang="en-US" sz="11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p>
            <a:pPr marL="0" indent="0" algn="l">
              <a:buNone/>
            </a:pPr>
            <a:r>
              <a:rPr lang="en-US" sz="3000" b="1" dirty="0">
                <a:solidFill>
                  <a:schemeClr val="tx1"/>
                </a:solidFill>
              </a:rPr>
              <a:t>Where it stands</a:t>
            </a:r>
            <a:endParaRPr lang="en-US" sz="3000" dirty="0"/>
          </a:p>
        </p:txBody>
      </p:sp>
      <p:sp>
        <p:nvSpPr>
          <p:cNvPr id="3" name="Text 1"/>
          <p:cNvSpPr txBox="1"/>
          <p:nvPr/>
        </p:nvSpPr>
        <p:spPr>
          <a:xfrm>
            <a:off x="594360" y="1371600"/>
            <a:ext cx="2514600" cy="868680"/>
          </a:xfrm>
          <a:prstGeom prst="rect">
            <a:avLst/>
          </a:prstGeom>
          <a:noFill/>
          <a:ln/>
        </p:spPr>
        <p:txBody>
          <a:bodyPr wrap="square" lIns="0" tIns="0" rIns="0" bIns="0" rtlCol="0" anchor="ctr"/>
          <a:lstStyle/>
          <a:p>
            <a:pPr marL="0" indent="0">
              <a:buNone/>
            </a:pPr>
            <a:r>
              <a:rPr lang="en-US" sz="4400" b="1" dirty="0">
                <a:solidFill>
                  <a:srgbClr val="0E7C66"/>
                </a:solidFill>
              </a:rPr>
              <a:t>724</a:t>
            </a:r>
            <a:endParaRPr lang="en-US" sz="4400" dirty="0"/>
          </a:p>
        </p:txBody>
      </p:sp>
      <p:sp>
        <p:nvSpPr>
          <p:cNvPr id="4" name="Text 2"/>
          <p:cNvSpPr txBox="1"/>
          <p:nvPr/>
        </p:nvSpPr>
        <p:spPr>
          <a:xfrm>
            <a:off x="594360" y="2212848"/>
            <a:ext cx="2514600" cy="685800"/>
          </a:xfrm>
          <a:prstGeom prst="rect">
            <a:avLst/>
          </a:prstGeom>
          <a:noFill/>
          <a:ln/>
        </p:spPr>
        <p:txBody>
          <a:bodyPr wrap="square" lIns="0" tIns="0" rIns="0" bIns="0" rtlCol="0" anchor="ctr"/>
          <a:lstStyle/>
          <a:p>
            <a:pPr marL="0" indent="0">
              <a:buNone/>
            </a:pPr>
            <a:r>
              <a:rPr lang="en-US" sz="1200" dirty="0">
                <a:solidFill>
                  <a:srgbClr val="5A6472"/>
                </a:solidFill>
              </a:rPr>
              <a:t>tests passing,</a:t>
            </a:r>
            <a:endParaRPr lang="en-US" sz="1200" dirty="0"/>
          </a:p>
          <a:p>
            <a:pPr marL="0" indent="0">
              <a:buNone/>
            </a:pPr>
            <a:r>
              <a:rPr lang="en-US" sz="1200" dirty="0">
                <a:solidFill>
                  <a:srgbClr val="5A6472"/>
                </a:solidFill>
              </a:rPr>
              <a:t>13 skipped without a provider</a:t>
            </a:r>
            <a:endParaRPr lang="en-US" sz="1200" dirty="0"/>
          </a:p>
        </p:txBody>
      </p:sp>
      <p:sp>
        <p:nvSpPr>
          <p:cNvPr id="5" name="Text 3"/>
          <p:cNvSpPr txBox="1"/>
          <p:nvPr/>
        </p:nvSpPr>
        <p:spPr>
          <a:xfrm>
            <a:off x="3429000" y="1371600"/>
            <a:ext cx="2514600" cy="868680"/>
          </a:xfrm>
          <a:prstGeom prst="rect">
            <a:avLst/>
          </a:prstGeom>
          <a:noFill/>
          <a:ln/>
        </p:spPr>
        <p:txBody>
          <a:bodyPr wrap="square" lIns="0" tIns="0" rIns="0" bIns="0" rtlCol="0" anchor="ctr"/>
          <a:lstStyle/>
          <a:p>
            <a:pPr marL="0" indent="0">
              <a:buNone/>
            </a:pPr>
            <a:r>
              <a:rPr lang="en-US" sz="4400" b="1" dirty="0">
                <a:solidFill>
                  <a:srgbClr val="3E6B89"/>
                </a:solidFill>
              </a:rPr>
              <a:t>13</a:t>
            </a:r>
            <a:endParaRPr lang="en-US" sz="4400" dirty="0"/>
          </a:p>
        </p:txBody>
      </p:sp>
      <p:sp>
        <p:nvSpPr>
          <p:cNvPr id="6" name="Text 4"/>
          <p:cNvSpPr txBox="1"/>
          <p:nvPr/>
        </p:nvSpPr>
        <p:spPr>
          <a:xfrm>
            <a:off x="3429000" y="2212848"/>
            <a:ext cx="2514600" cy="685800"/>
          </a:xfrm>
          <a:prstGeom prst="rect">
            <a:avLst/>
          </a:prstGeom>
          <a:noFill/>
          <a:ln/>
        </p:spPr>
        <p:txBody>
          <a:bodyPr wrap="square" lIns="0" tIns="0" rIns="0" bIns="0" rtlCol="0" anchor="ctr"/>
          <a:lstStyle/>
          <a:p>
            <a:pPr marL="0" indent="0">
              <a:buNone/>
            </a:pPr>
            <a:r>
              <a:rPr lang="en-US" sz="1200" dirty="0">
                <a:solidFill>
                  <a:srgbClr val="5A6472"/>
                </a:solidFill>
              </a:rPr>
              <a:t>ordinary Python programs</a:t>
            </a:r>
            <a:endParaRPr lang="en-US" sz="1200" dirty="0"/>
          </a:p>
          <a:p>
            <a:pPr marL="0" indent="0">
              <a:buNone/>
            </a:pPr>
            <a:r>
              <a:rPr lang="en-US" sz="1200" dirty="0">
                <a:solidFill>
                  <a:srgbClr val="5A6472"/>
                </a:solidFill>
              </a:rPr>
              <a:t>in the repair corpus</a:t>
            </a:r>
            <a:endParaRPr lang="en-US" sz="1200" dirty="0"/>
          </a:p>
        </p:txBody>
      </p:sp>
      <p:sp>
        <p:nvSpPr>
          <p:cNvPr id="7" name="Text 5"/>
          <p:cNvSpPr txBox="1"/>
          <p:nvPr/>
        </p:nvSpPr>
        <p:spPr>
          <a:xfrm>
            <a:off x="6263640" y="1371600"/>
            <a:ext cx="2514600" cy="868680"/>
          </a:xfrm>
          <a:prstGeom prst="rect">
            <a:avLst/>
          </a:prstGeom>
          <a:noFill/>
          <a:ln/>
        </p:spPr>
        <p:txBody>
          <a:bodyPr wrap="square" lIns="0" tIns="0" rIns="0" bIns="0" rtlCol="0" anchor="ctr"/>
          <a:lstStyle/>
          <a:p>
            <a:pPr marL="0" indent="0">
              <a:buNone/>
            </a:pPr>
            <a:r>
              <a:rPr lang="en-US" sz="4400" b="1" dirty="0">
                <a:solidFill>
                  <a:srgbClr val="3E6B89"/>
                </a:solidFill>
              </a:rPr>
              <a:t>10/12</a:t>
            </a:r>
            <a:endParaRPr lang="en-US" sz="4400" dirty="0"/>
          </a:p>
        </p:txBody>
      </p:sp>
      <p:sp>
        <p:nvSpPr>
          <p:cNvPr id="8" name="Text 6"/>
          <p:cNvSpPr txBox="1"/>
          <p:nvPr/>
        </p:nvSpPr>
        <p:spPr>
          <a:xfrm>
            <a:off x="6263640" y="2212848"/>
            <a:ext cx="2514600" cy="685800"/>
          </a:xfrm>
          <a:prstGeom prst="rect">
            <a:avLst/>
          </a:prstGeom>
          <a:noFill/>
          <a:ln/>
        </p:spPr>
        <p:txBody>
          <a:bodyPr wrap="square" lIns="0" tIns="0" rIns="0" bIns="0" rtlCol="0" anchor="ctr"/>
          <a:lstStyle/>
          <a:p>
            <a:pPr marL="0" indent="0">
              <a:buNone/>
            </a:pPr>
            <a:r>
              <a:rPr lang="en-US" sz="1200" dirty="0">
                <a:solidFill>
                  <a:srgbClr val="5A6472"/>
                </a:solidFill>
              </a:rPr>
              <a:t>landed in the last complete</a:t>
            </a:r>
            <a:endParaRPr lang="en-US" sz="1200" dirty="0"/>
          </a:p>
          <a:p>
            <a:pPr marL="0" indent="0">
              <a:buNone/>
            </a:pPr>
            <a:r>
              <a:rPr lang="en-US" sz="1200" dirty="0">
                <a:solidFill>
                  <a:srgbClr val="5A6472"/>
                </a:solidFill>
              </a:rPr>
              <a:t>benchmark run</a:t>
            </a:r>
            <a:endParaRPr lang="en-US" sz="1200" dirty="0"/>
          </a:p>
        </p:txBody>
      </p:sp>
      <p:sp>
        <p:nvSpPr>
          <p:cNvPr id="9" name="Text 7"/>
          <p:cNvSpPr txBox="1"/>
          <p:nvPr/>
        </p:nvSpPr>
        <p:spPr>
          <a:xfrm>
            <a:off x="9098280" y="1371600"/>
            <a:ext cx="2514600" cy="868680"/>
          </a:xfrm>
          <a:prstGeom prst="rect">
            <a:avLst/>
          </a:prstGeom>
          <a:noFill/>
          <a:ln/>
        </p:spPr>
        <p:txBody>
          <a:bodyPr wrap="square" lIns="0" tIns="0" rIns="0" bIns="0" rtlCol="0" anchor="ctr"/>
          <a:lstStyle/>
          <a:p>
            <a:pPr marL="0" indent="0">
              <a:buNone/>
            </a:pPr>
            <a:r>
              <a:rPr lang="en-US" sz="4400" b="1" dirty="0">
                <a:solidFill>
                  <a:srgbClr val="0E7C66"/>
                </a:solidFill>
              </a:rPr>
              <a:t>0</a:t>
            </a:r>
            <a:endParaRPr lang="en-US" sz="4400" dirty="0"/>
          </a:p>
        </p:txBody>
      </p:sp>
      <p:sp>
        <p:nvSpPr>
          <p:cNvPr id="10" name="Text 8"/>
          <p:cNvSpPr txBox="1"/>
          <p:nvPr/>
        </p:nvSpPr>
        <p:spPr>
          <a:xfrm>
            <a:off x="9098280" y="2212848"/>
            <a:ext cx="2514600" cy="685800"/>
          </a:xfrm>
          <a:prstGeom prst="rect">
            <a:avLst/>
          </a:prstGeom>
          <a:noFill/>
          <a:ln/>
        </p:spPr>
        <p:txBody>
          <a:bodyPr wrap="square" lIns="0" tIns="0" rIns="0" bIns="0" rtlCol="0" anchor="ctr"/>
          <a:lstStyle/>
          <a:p>
            <a:pPr marL="0" indent="0">
              <a:buNone/>
            </a:pPr>
            <a:r>
              <a:rPr lang="en-US" sz="1200" dirty="0">
                <a:solidFill>
                  <a:srgbClr val="5A6472"/>
                </a:solidFill>
              </a:rPr>
              <a:t>AI calls in the</a:t>
            </a:r>
            <a:endParaRPr lang="en-US" sz="1200" dirty="0"/>
          </a:p>
          <a:p>
            <a:pPr marL="0" indent="0">
              <a:buNone/>
            </a:pPr>
            <a:r>
              <a:rPr lang="en-US" sz="1200" dirty="0">
                <a:solidFill>
                  <a:srgbClr val="5A6472"/>
                </a:solidFill>
              </a:rPr>
              <a:t>deterministic pipeline</a:t>
            </a:r>
            <a:endParaRPr lang="en-US" sz="1200" dirty="0"/>
          </a:p>
        </p:txBody>
      </p:sp>
      <p:sp>
        <p:nvSpPr>
          <p:cNvPr id="11" name="closing"/>
          <p:cNvSpPr/>
          <p:nvPr/>
        </p:nvSpPr>
        <p:spPr>
          <a:xfrm>
            <a:off x="594360" y="3429000"/>
            <a:ext cx="10972800" cy="1600200"/>
          </a:xfrm>
          <a:prstGeom prst="roundRect">
            <a:avLst>
              <a:gd name="adj" fmla="val 5714"/>
            </a:avLst>
          </a:prstGeom>
          <a:solidFill>
            <a:srgbClr val="F2F5F7"/>
          </a:solidFill>
          <a:ln w="12700">
            <a:solidFill>
              <a:srgbClr val="DCE3E9"/>
            </a:solidFill>
            <a:prstDash val="solid"/>
          </a:ln>
        </p:spPr>
      </p:sp>
      <p:sp>
        <p:nvSpPr>
          <p:cNvPr id="12" name="Text 10"/>
          <p:cNvSpPr txBox="1"/>
          <p:nvPr/>
        </p:nvSpPr>
        <p:spPr>
          <a:xfrm>
            <a:off x="868680" y="3611880"/>
            <a:ext cx="10424160" cy="1280160"/>
          </a:xfrm>
          <a:prstGeom prst="rect">
            <a:avLst/>
          </a:prstGeom>
          <a:noFill/>
          <a:ln/>
        </p:spPr>
        <p:txBody>
          <a:bodyPr wrap="square" lIns="0" tIns="0" rIns="0" bIns="0" rtlCol="0" anchor="ctr"/>
          <a:lstStyle/>
          <a:p>
            <a:pPr marL="0" indent="0">
              <a:buNone/>
            </a:pPr>
            <a:r>
              <a:rPr lang="en-US" sz="1500" b="1" dirty="0">
                <a:solidFill>
                  <a:srgbClr val="14181F"/>
                </a:solidFill>
              </a:rPr>
              <a:t>The claim we are willing to defend
</a:t>
            </a:r>
            <a:endParaRPr lang="en-US" sz="1500" dirty="0"/>
          </a:p>
          <a:p>
            <a:pPr marL="0" indent="0">
              <a:buNone/>
            </a:pPr>
            <a:r>
              <a:rPr lang="en-US" sz="1300" dirty="0">
                <a:solidFill>
                  <a:srgbClr val="3A4450"/>
                </a:solidFill>
              </a:rPr>
              <a:t>Three places in this compiler use a model, and in none of them is the model trusted. Each one is bounded by something that can refuse it - a whitelist, a C compiler, a byte comparison. Where no such bound exists, the result is labelled as a conversion and not as a proof, in those words, on the screen.</a:t>
            </a:r>
            <a:endParaRPr lang="en-US" sz="1500" dirty="0"/>
          </a:p>
        </p:txBody>
      </p:sp>
      <p:sp>
        <p:nvSpPr>
          <p:cNvPr id="13" name="demo cue"/>
          <p:cNvSpPr/>
          <p:nvPr/>
        </p:nvSpPr>
        <p:spPr>
          <a:xfrm>
            <a:off x="594360" y="5230368"/>
            <a:ext cx="10972800" cy="566928"/>
          </a:xfrm>
          <a:prstGeom prst="roundRect">
            <a:avLst>
              <a:gd name="adj" fmla="val 16129"/>
            </a:avLst>
          </a:prstGeom>
          <a:solidFill>
            <a:srgbClr val="E7F1EE"/>
          </a:solidFill>
          <a:ln w="12700">
            <a:solidFill>
              <a:srgbClr val="BFD9D2"/>
            </a:solidFill>
            <a:prstDash val="solid"/>
          </a:ln>
        </p:spPr>
      </p:sp>
      <p:sp>
        <p:nvSpPr>
          <p:cNvPr id="14" name="Text 12"/>
          <p:cNvSpPr txBox="1"/>
          <p:nvPr/>
        </p:nvSpPr>
        <p:spPr>
          <a:xfrm>
            <a:off x="822960" y="5230368"/>
            <a:ext cx="10515600" cy="566928"/>
          </a:xfrm>
          <a:prstGeom prst="rect">
            <a:avLst/>
          </a:prstGeom>
          <a:noFill/>
          <a:ln/>
        </p:spPr>
        <p:txBody>
          <a:bodyPr wrap="square" lIns="0" tIns="0" rIns="0" bIns="0" rtlCol="0" anchor="ctr"/>
          <a:lstStyle/>
          <a:p>
            <a:pPr marL="0" indent="0">
              <a:buNone/>
            </a:pPr>
            <a:r>
              <a:rPr lang="en-US" sz="1250" b="1" dirty="0">
                <a:solidFill>
                  <a:srgbClr val="0E7C66"/>
                </a:solidFill>
              </a:rPr>
              <a:t>DEMO   </a:t>
            </a:r>
            <a:r>
              <a:rPr lang="en-US" sz="1250" dirty="0">
                <a:solidFill>
                  <a:srgbClr val="232A34"/>
                </a:solidFill>
              </a:rPr>
              <a:t>Finish with the test suite running, or the cube still turning on screen.</a:t>
            </a:r>
            <a:endParaRPr lang="en-US" sz="12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B1"/>
                </a:solidFill>
              </a:defRPr>
            </a:lvl1pPr>
          </a:lstStyle>
          <a:p>
            <a:pPr algn="l"/>
            <a:fld id="{F7021451-1387-4CA6-816F-3879F97B5CBC}" type="slidenum">
              <a:rPr lang="en-US" b="0"/>
              <a:t>20</a:t>
            </a:fld>
            <a:endParaRPr lang="en-US"/>
          </a:p>
        </p:txBody>
      </p:sp>
    </p:spTree>
  </p:cSld>
  <p:clrMapOvr>
    <a:masterClrMapping/>
  </p:clrMapOvr>
</p:sld>
</file>

<file path=ppt/theme/theme1.xml><?xml version="1.0" encoding="utf-8"?>
<a:theme xmlns:a="http://schemas.openxmlformats.org/drawingml/2006/main" name="Translation Compiler">
  <a:themeElements>
    <a:clrScheme name="Translation Compiler">
      <a:dk1>
        <a:srgbClr val="14181F"/>
      </a:dk1>
      <a:lt1>
        <a:srgbClr val="FFFFFF"/>
      </a:lt1>
      <a:dk2>
        <a:srgbClr val="232A34"/>
      </a:dk2>
      <a:lt2>
        <a:srgbClr val="EEF2F5"/>
      </a:lt2>
      <a:accent1>
        <a:srgbClr val="0E7C66"/>
      </a:accent1>
      <a:accent2>
        <a:srgbClr val="B3401A"/>
      </a:accent2>
      <a:accent3>
        <a:srgbClr val="3E6B89"/>
      </a:accent3>
      <a:accent4>
        <a:srgbClr val="7FB3A3"/>
      </a:accent4>
      <a:accent5>
        <a:srgbClr val="5A6472"/>
      </a:accent5>
      <a:accent6>
        <a:srgbClr val="C98A3C"/>
      </a:accent6>
      <a:hlink>
        <a:srgbClr val="0E7C66"/>
      </a:hlink>
      <a:folHlink>
        <a:srgbClr val="5A6472"/>
      </a:folHlink>
    </a:clrScheme>
    <a:fontScheme name="Translation Compil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3393</Words>
  <Application>Microsoft Office PowerPoint</Application>
  <PresentationFormat>Widescreen</PresentationFormat>
  <Paragraphs>250</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Courier New</vt:lpstr>
      <vt:lpstr>Translation Compiler</vt:lpstr>
      <vt:lpstr>AI Based Language Translation Compiler</vt:lpstr>
      <vt:lpstr>Part 1  The deterministic compiler</vt:lpstr>
      <vt:lpstr>The problem, and the one rule we hold to</vt:lpstr>
      <vt:lpstr>Five stages, and exactly where AI is allowed</vt:lpstr>
      <vt:lpstr>Stages 1 and 2  the front end</vt:lpstr>
      <vt:lpstr>Stage 3  Semantic analysis</vt:lpstr>
      <vt:lpstr>Stage 4  Code generation, and the C that comes out</vt:lpstr>
      <vt:lpstr>Part 2  Proof, and the AI that is allowed in</vt:lpstr>
      <vt:lpstr>What byte for byte actually means</vt:lpstr>
      <vt:lpstr>The AI gate  one expression, and a wall around it</vt:lpstr>
      <vt:lpstr>With the gate off, it is a hard error - never a guess</vt:lpstr>
      <vt:lpstr>Repair  when the program itself is outside the subset</vt:lpstr>
      <vt:lpstr>What has to be true before a repair is accepted</vt:lpstr>
      <vt:lpstr>Part 3  No key, the last resort, and the limits</vt:lpstr>
      <vt:lpstr>The pipeline does not need an API key</vt:lpstr>
      <vt:lpstr>The last stage  convert what cannot be proved</vt:lpstr>
      <vt:lpstr>The payoff  an ursina program, running as native C</vt:lpstr>
      <vt:lpstr>Where AI is used, why, and what bounds it</vt:lpstr>
      <vt:lpstr>What we do not claim</vt:lpstr>
      <vt:lpstr>Where it stands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Based Language Translation Compiler</dc:title>
  <dc:subject>BCSE307P Compiler Design Lab</dc:subject>
  <dc:creator>Sakrit Kafle, Abendra Adhikari, Ankur Bhattarai</dc:creator>
  <cp:lastModifiedBy>ACER</cp:lastModifiedBy>
  <cp:revision>2</cp:revision>
  <dcterms:created xsi:type="dcterms:W3CDTF">2026-10-29T19:51:30Z</dcterms:created>
  <dcterms:modified xsi:type="dcterms:W3CDTF">2026-10-30T05:46:16Z</dcterms:modified>
</cp:coreProperties>
</file>